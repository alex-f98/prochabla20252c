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8" name="Brian Alex Fuentes Acuñ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2-16T17:32:37.117">
    <p:pos x="196" y="724"/>
    <p:text>https://www.researchgate.net/figure/The-simplified-speech-model-proposed-by-the-acoustic-theory-of-speech-production_fig5_241802223</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2-16T21:08:06.776">
    <p:pos x="298" y="1208"/>
    <p:text>https://www.slideserve.com/galia/introduction-to-speech-signal-processing</p:text>
  </p:cm>
  <p:cm authorId="0" idx="3" dt="2026-02-16T22:21:26.320">
    <p:pos x="5001" y="1699"/>
    <p:text>CEPLIFTER: Par ́ametro de liftering cepstral, que enfatiza coeficientes de orden
medio para mejorar la discriminabilidad (es como un ponderado para que los
coeficientes sean comparables)</p:text>
  </p:cm>
  <p:cm authorId="0" idx="4" dt="2026-02-16T22:22:02.629">
    <p:pos x="4059" y="628"/>
    <p:text>PREEMCOEF: Coeficiente de pre ́enfasis aplicado a la se ̃nal de entrada. Un valor
t ́ıpico es 0,97, que amplifica las componentes de alta frecuencia</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2-19T16:51:25.176">
    <p:pos x="1829" y="2629"/>
    <p:text>Osea solo necesito calcular la prob de observacion en el ultimo instante, de ahi solo depende de los instantes anteriores. por ellos es alphaT por la prob de transcision al ultimo estado</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02-20T00:03:06.474">
    <p:pos x="6000" y="0"/>
    <p:text>Los archivos wlist.gf y lexicon.gf, en el directorio del proyecto, contienen la lista de
palabras de la gram ́atica y el diccionario de pronunciaciones de la misma, respectivamente</p:text>
  </p:cm>
  <p:cm authorId="0" idx="7" dt="2026-02-20T00:05:41.275">
    <p:pos x="530" y="577"/>
    <p:text>Esto agrega un silencio corto al final de todas las entradas del diccionario</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6-02-20T00:21:58.865">
    <p:pos x="3071" y="1000"/>
    <p:text>HCopy recibe el archivo de configuraci ́on hconfig gf.hcopy, que contiene toda la
configuraci ́on —la misma que hconfig.copy— y una lista genmfc gf.test que contiene las
rutas de los archivos de entrada y la ruta de salida. Esta debe ser generada con go gf.mfclist
(modificando go.mfclist).</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93fc29c86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93fc29c86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93fc29c86a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93fc29c86a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93fc29c86a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93fc29c86a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93fc29c86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93fc29c86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93fc29c86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93fc29c86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93fc29c86a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93fc29c86a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93fc29c86a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93fc29c86a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93fc29c86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93fc29c86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93fc29c86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93fc29c86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93fc29c86a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93fc29c86a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93fc29c86a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93fc29c86a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940eedc2f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940eedc2f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93fc29c86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93fc29c86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940eedc2f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940eedc2f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93fc29c86a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93fc29c86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940eedc2f9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940eedc2f9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c93f59e82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c93f59e82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c93f59e82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c93f59e82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940eedc2f9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940eedc2f9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93fc29c86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93fc29c86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93fc29c86a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93fc29c86a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93fc29c86a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93fc29c86a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940eedc2f9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940eedc2f9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940eedc2f9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940eedc2f9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940eedc2f9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940eedc2f9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940eedc2f9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940eedc2f9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940eedc2f9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940eedc2f9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940eedc2f9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940eedc2f9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940eedc2f9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940eedc2f9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940eedc2f9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940eedc2f9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omments" Target="../comments/comment1.xml"/><Relationship Id="rId4" Type="http://schemas.openxmlformats.org/officeDocument/2006/relationships/image" Target="../media/image3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11.png"/><Relationship Id="rId13" Type="http://schemas.openxmlformats.org/officeDocument/2006/relationships/image" Target="../media/image8.png"/><Relationship Id="rId12" Type="http://schemas.openxmlformats.org/officeDocument/2006/relationships/image" Target="../media/image4.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6.png"/><Relationship Id="rId9" Type="http://schemas.openxmlformats.org/officeDocument/2006/relationships/image" Target="../media/image36.png"/><Relationship Id="rId5" Type="http://schemas.openxmlformats.org/officeDocument/2006/relationships/image" Target="../media/image20.png"/><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5.png"/><Relationship Id="rId5" Type="http://schemas.openxmlformats.org/officeDocument/2006/relationships/image" Target="../media/image13.png"/><Relationship Id="rId6" Type="http://schemas.openxmlformats.org/officeDocument/2006/relationships/image" Target="../media/image17.png"/><Relationship Id="rId7" Type="http://schemas.openxmlformats.org/officeDocument/2006/relationships/image" Target="../media/image10.png"/></Relationships>
</file>

<file path=ppt/slides/_rels/slide8.xml.rels><?xml version="1.0" encoding="UTF-8" standalone="yes"?><Relationships xmlns="http://schemas.openxmlformats.org/package/2006/relationships"><Relationship Id="rId11" Type="http://schemas.openxmlformats.org/officeDocument/2006/relationships/image" Target="../media/image24.png"/><Relationship Id="rId10" Type="http://schemas.openxmlformats.org/officeDocument/2006/relationships/image" Target="../media/image23.png"/><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comments" Target="../comments/comment2.xml"/><Relationship Id="rId4" Type="http://schemas.openxmlformats.org/officeDocument/2006/relationships/image" Target="../media/image19.png"/><Relationship Id="rId9" Type="http://schemas.openxmlformats.org/officeDocument/2006/relationships/image" Target="../media/image18.png"/><Relationship Id="rId5" Type="http://schemas.openxmlformats.org/officeDocument/2006/relationships/image" Target="../media/image9.png"/><Relationship Id="rId6" Type="http://schemas.openxmlformats.org/officeDocument/2006/relationships/image" Target="../media/image21.png"/><Relationship Id="rId7" Type="http://schemas.openxmlformats.org/officeDocument/2006/relationships/image" Target="../media/image35.png"/><Relationship Id="rId8"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4.png"/><Relationship Id="rId4" Type="http://schemas.openxmlformats.org/officeDocument/2006/relationships/image" Target="../media/image33.png"/><Relationship Id="rId5" Type="http://schemas.openxmlformats.org/officeDocument/2006/relationships/image" Target="../media/image46.png"/><Relationship Id="rId6" Type="http://schemas.openxmlformats.org/officeDocument/2006/relationships/image" Target="../media/image28.png"/><Relationship Id="rId7" Type="http://schemas.openxmlformats.org/officeDocument/2006/relationships/image" Target="../media/image27.png"/><Relationship Id="rId8" Type="http://schemas.openxmlformats.org/officeDocument/2006/relationships/image" Target="../media/image4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8.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10" Type="http://schemas.openxmlformats.org/officeDocument/2006/relationships/image" Target="../media/image32.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0.png"/><Relationship Id="rId4" Type="http://schemas.openxmlformats.org/officeDocument/2006/relationships/image" Target="../media/image25.png"/><Relationship Id="rId9" Type="http://schemas.openxmlformats.org/officeDocument/2006/relationships/image" Target="../media/image45.png"/><Relationship Id="rId5" Type="http://schemas.openxmlformats.org/officeDocument/2006/relationships/image" Target="../media/image26.png"/><Relationship Id="rId6" Type="http://schemas.openxmlformats.org/officeDocument/2006/relationships/image" Target="../media/image41.png"/><Relationship Id="rId7" Type="http://schemas.openxmlformats.org/officeDocument/2006/relationships/image" Target="../media/image44.png"/><Relationship Id="rId8"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7.png"/></Relationships>
</file>

<file path=ppt/slides/_rels/slide13.xml.rels><?xml version="1.0" encoding="UTF-8" standalone="yes"?><Relationships xmlns="http://schemas.openxmlformats.org/package/2006/relationships"><Relationship Id="rId11" Type="http://schemas.openxmlformats.org/officeDocument/2006/relationships/image" Target="../media/image65.png"/><Relationship Id="rId10" Type="http://schemas.openxmlformats.org/officeDocument/2006/relationships/image" Target="../media/image58.png"/><Relationship Id="rId13" Type="http://schemas.openxmlformats.org/officeDocument/2006/relationships/image" Target="../media/image49.png"/><Relationship Id="rId12" Type="http://schemas.openxmlformats.org/officeDocument/2006/relationships/image" Target="../media/image51.png"/><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comments" Target="../comments/comment3.xml"/><Relationship Id="rId4" Type="http://schemas.openxmlformats.org/officeDocument/2006/relationships/image" Target="../media/image43.png"/><Relationship Id="rId9" Type="http://schemas.openxmlformats.org/officeDocument/2006/relationships/image" Target="../media/image53.png"/><Relationship Id="rId14" Type="http://schemas.openxmlformats.org/officeDocument/2006/relationships/image" Target="../media/image50.png"/><Relationship Id="rId5" Type="http://schemas.openxmlformats.org/officeDocument/2006/relationships/image" Target="../media/image54.png"/><Relationship Id="rId6" Type="http://schemas.openxmlformats.org/officeDocument/2006/relationships/image" Target="../media/image52.png"/><Relationship Id="rId7" Type="http://schemas.openxmlformats.org/officeDocument/2006/relationships/image" Target="../media/image47.png"/><Relationship Id="rId8" Type="http://schemas.openxmlformats.org/officeDocument/2006/relationships/image" Target="../media/image3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9.png"/><Relationship Id="rId4" Type="http://schemas.openxmlformats.org/officeDocument/2006/relationships/image" Target="../media/image53.png"/><Relationship Id="rId5" Type="http://schemas.openxmlformats.org/officeDocument/2006/relationships/image" Target="../media/image4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3.png"/><Relationship Id="rId4" Type="http://schemas.openxmlformats.org/officeDocument/2006/relationships/image" Target="../media/image54.png"/><Relationship Id="rId9" Type="http://schemas.openxmlformats.org/officeDocument/2006/relationships/image" Target="../media/image66.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67.png"/><Relationship Id="rId8" Type="http://schemas.openxmlformats.org/officeDocument/2006/relationships/image" Target="../media/image3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4.png"/><Relationship Id="rId4" Type="http://schemas.openxmlformats.org/officeDocument/2006/relationships/image" Target="../media/image61.png"/><Relationship Id="rId5" Type="http://schemas.openxmlformats.org/officeDocument/2006/relationships/image" Target="../media/image64.png"/><Relationship Id="rId6" Type="http://schemas.openxmlformats.org/officeDocument/2006/relationships/image" Target="../media/image6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9.png"/><Relationship Id="rId4" Type="http://schemas.openxmlformats.org/officeDocument/2006/relationships/image" Target="../media/image62.png"/><Relationship Id="rId5" Type="http://schemas.openxmlformats.org/officeDocument/2006/relationships/image" Target="../media/image75.png"/><Relationship Id="rId6" Type="http://schemas.openxmlformats.org/officeDocument/2006/relationships/image" Target="../media/image93.png"/><Relationship Id="rId7" Type="http://schemas.openxmlformats.org/officeDocument/2006/relationships/image" Target="../media/image8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3.png"/><Relationship Id="rId4" Type="http://schemas.openxmlformats.org/officeDocument/2006/relationships/image" Target="../media/image8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0.png"/><Relationship Id="rId4" Type="http://schemas.openxmlformats.org/officeDocument/2006/relationships/image" Target="../media/image71.png"/><Relationship Id="rId5" Type="http://schemas.openxmlformats.org/officeDocument/2006/relationships/image" Target="../media/image78.png"/><Relationship Id="rId6" Type="http://schemas.openxmlformats.org/officeDocument/2006/relationships/image" Target="../media/image92.png"/><Relationship Id="rId7" Type="http://schemas.openxmlformats.org/officeDocument/2006/relationships/image" Target="../media/image7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7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7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79.png"/><Relationship Id="rId4" Type="http://schemas.openxmlformats.org/officeDocument/2006/relationships/image" Target="../media/image8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74.png"/><Relationship Id="rId4" Type="http://schemas.openxmlformats.org/officeDocument/2006/relationships/image" Target="../media/image73.png"/><Relationship Id="rId5" Type="http://schemas.openxmlformats.org/officeDocument/2006/relationships/image" Target="../media/image8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comments" Target="../comments/comment4.xml"/><Relationship Id="rId4" Type="http://schemas.openxmlformats.org/officeDocument/2006/relationships/image" Target="../media/image84.png"/><Relationship Id="rId5" Type="http://schemas.openxmlformats.org/officeDocument/2006/relationships/image" Target="../media/image89.png"/><Relationship Id="rId6" Type="http://schemas.openxmlformats.org/officeDocument/2006/relationships/image" Target="../media/image90.png"/><Relationship Id="rId7" Type="http://schemas.openxmlformats.org/officeDocument/2006/relationships/image" Target="../media/image9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comments" Target="../comments/comment5.xml"/><Relationship Id="rId4" Type="http://schemas.openxmlformats.org/officeDocument/2006/relationships/image" Target="../media/image86.png"/><Relationship Id="rId5" Type="http://schemas.openxmlformats.org/officeDocument/2006/relationships/image" Target="../media/image8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8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8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pic>
        <p:nvPicPr>
          <p:cNvPr id="55" name="Google Shape;55;p13"/>
          <p:cNvPicPr preferRelativeResize="0"/>
          <p:nvPr/>
        </p:nvPicPr>
        <p:blipFill>
          <a:blip r:embed="rId3">
            <a:alphaModFix/>
          </a:blip>
          <a:stretch>
            <a:fillRect/>
          </a:stretch>
        </p:blipFill>
        <p:spPr>
          <a:xfrm>
            <a:off x="8950" y="0"/>
            <a:ext cx="9135051" cy="5143500"/>
          </a:xfrm>
          <a:prstGeom prst="rect">
            <a:avLst/>
          </a:prstGeom>
          <a:noFill/>
          <a:ln>
            <a:noFill/>
          </a:ln>
        </p:spPr>
      </p:pic>
      <p:sp>
        <p:nvSpPr>
          <p:cNvPr id="56" name="Google Shape;56;p13"/>
          <p:cNvSpPr txBox="1"/>
          <p:nvPr>
            <p:ph idx="1" type="subTitle"/>
          </p:nvPr>
        </p:nvSpPr>
        <p:spPr>
          <a:xfrm>
            <a:off x="165900" y="96450"/>
            <a:ext cx="5663100" cy="1378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800">
                <a:solidFill>
                  <a:srgbClr val="00FFFF"/>
                </a:solidFill>
              </a:rPr>
              <a:t>Procesamiento del Habla </a:t>
            </a:r>
            <a:endParaRPr sz="3800">
              <a:solidFill>
                <a:srgbClr val="00FFFF"/>
              </a:solidFill>
            </a:endParaRPr>
          </a:p>
          <a:p>
            <a:pPr indent="0" lvl="0" marL="0" rtl="0" algn="l">
              <a:spcBef>
                <a:spcPts val="0"/>
              </a:spcBef>
              <a:spcAft>
                <a:spcPts val="0"/>
              </a:spcAft>
              <a:buNone/>
            </a:pPr>
            <a:r>
              <a:rPr lang="es" sz="3800">
                <a:solidFill>
                  <a:srgbClr val="00FFFF"/>
                </a:solidFill>
              </a:rPr>
              <a:t>86.53</a:t>
            </a:r>
            <a:endParaRPr sz="3800">
              <a:solidFill>
                <a:srgbClr val="00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idx="1" type="body"/>
          </p:nvPr>
        </p:nvSpPr>
        <p:spPr>
          <a:xfrm>
            <a:off x="311700" y="261400"/>
            <a:ext cx="8520600" cy="43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2600"/>
              <a:t>Índice:</a:t>
            </a:r>
            <a:endParaRPr sz="2600"/>
          </a:p>
          <a:p>
            <a:pPr indent="-393700" lvl="0" marL="457200" rtl="0" algn="l">
              <a:spcBef>
                <a:spcPts val="1200"/>
              </a:spcBef>
              <a:spcAft>
                <a:spcPts val="0"/>
              </a:spcAft>
              <a:buSzPts val="2600"/>
              <a:buChar char="●"/>
            </a:pPr>
            <a:r>
              <a:rPr lang="es" sz="2600"/>
              <a:t>¿Por que </a:t>
            </a:r>
            <a:r>
              <a:rPr lang="es" sz="2600"/>
              <a:t>Cepstrum</a:t>
            </a:r>
            <a:r>
              <a:rPr lang="es" sz="2600"/>
              <a:t>? </a:t>
            </a:r>
            <a:endParaRPr sz="2600"/>
          </a:p>
          <a:p>
            <a:pPr indent="-393700" lvl="0" marL="457200" rtl="0" algn="l">
              <a:spcBef>
                <a:spcPts val="0"/>
              </a:spcBef>
              <a:spcAft>
                <a:spcPts val="0"/>
              </a:spcAft>
              <a:buSzPts val="2600"/>
              <a:buChar char="●"/>
            </a:pPr>
            <a:r>
              <a:rPr lang="es" sz="2600"/>
              <a:t>Parametrización de los datos</a:t>
            </a:r>
            <a:endParaRPr sz="2600"/>
          </a:p>
          <a:p>
            <a:pPr indent="-393700" lvl="0" marL="457200" rtl="0" algn="l">
              <a:spcBef>
                <a:spcPts val="0"/>
              </a:spcBef>
              <a:spcAft>
                <a:spcPts val="0"/>
              </a:spcAft>
              <a:buSzPts val="2600"/>
              <a:buChar char="●"/>
            </a:pPr>
            <a:r>
              <a:rPr lang="es" sz="2600"/>
              <a:t>Detección </a:t>
            </a:r>
            <a:r>
              <a:rPr lang="es" sz="2600"/>
              <a:t>estadística</a:t>
            </a:r>
            <a:r>
              <a:rPr lang="es" sz="2600"/>
              <a:t> de secuencias</a:t>
            </a:r>
            <a:endParaRPr sz="2600"/>
          </a:p>
          <a:p>
            <a:pPr indent="-393700" lvl="0" marL="457200" rtl="0" algn="l">
              <a:spcBef>
                <a:spcPts val="0"/>
              </a:spcBef>
              <a:spcAft>
                <a:spcPts val="0"/>
              </a:spcAft>
              <a:buSzPts val="2600"/>
              <a:buChar char="●"/>
            </a:pPr>
            <a:r>
              <a:rPr lang="es" sz="2600"/>
              <a:t>Aplicación de HMM al habla</a:t>
            </a:r>
            <a:endParaRPr sz="2600"/>
          </a:p>
          <a:p>
            <a:pPr indent="-393700" lvl="0" marL="457200" rtl="0" algn="l">
              <a:spcBef>
                <a:spcPts val="0"/>
              </a:spcBef>
              <a:spcAft>
                <a:spcPts val="0"/>
              </a:spcAft>
              <a:buSzPts val="2600"/>
              <a:buChar char="●"/>
            </a:pPr>
            <a:r>
              <a:rPr lang="es" sz="2600"/>
              <a:t>Reconocedor de </a:t>
            </a:r>
            <a:r>
              <a:rPr lang="es" sz="2600"/>
              <a:t>gramática</a:t>
            </a:r>
            <a:r>
              <a:rPr lang="es" sz="2600"/>
              <a:t> finita</a:t>
            </a:r>
            <a:endParaRPr sz="2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03612"/>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Modelo del tracto vocal</a:t>
            </a:r>
            <a:endParaRPr/>
          </a:p>
        </p:txBody>
      </p:sp>
      <p:pic>
        <p:nvPicPr>
          <p:cNvPr id="67" name="Google Shape;67;p15"/>
          <p:cNvPicPr preferRelativeResize="0"/>
          <p:nvPr/>
        </p:nvPicPr>
        <p:blipFill>
          <a:blip r:embed="rId4">
            <a:alphaModFix/>
          </a:blip>
          <a:stretch>
            <a:fillRect/>
          </a:stretch>
        </p:blipFill>
        <p:spPr>
          <a:xfrm>
            <a:off x="311710" y="1149424"/>
            <a:ext cx="5553250" cy="3460725"/>
          </a:xfrm>
          <a:prstGeom prst="rect">
            <a:avLst/>
          </a:prstGeom>
          <a:noFill/>
          <a:ln>
            <a:noFill/>
          </a:ln>
        </p:spPr>
      </p:pic>
      <p:sp>
        <p:nvSpPr>
          <p:cNvPr id="68" name="Google Shape;68;p15"/>
          <p:cNvSpPr txBox="1"/>
          <p:nvPr/>
        </p:nvSpPr>
        <p:spPr>
          <a:xfrm>
            <a:off x="6041650" y="292075"/>
            <a:ext cx="2878200" cy="466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Fuente glotal:</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Para sonidos sonoros (voiced) se modela con un tren de pulsos con cierta frec. fundamental</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Sonidos sordos (unvoiced), es ruido blanco.</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a:solidFill>
                  <a:schemeClr val="dk2"/>
                </a:solidFill>
              </a:rPr>
              <a:t>Tracto vocal:</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Se describe mediante sus resonancias, los formantes.</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Se modela como LTI</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¿Por que Cepstrum? </a:t>
            </a:r>
            <a:endParaRPr/>
          </a:p>
        </p:txBody>
      </p:sp>
      <p:pic>
        <p:nvPicPr>
          <p:cNvPr id="74" name="Google Shape;74;p16"/>
          <p:cNvPicPr preferRelativeResize="0"/>
          <p:nvPr/>
        </p:nvPicPr>
        <p:blipFill>
          <a:blip r:embed="rId3">
            <a:alphaModFix/>
          </a:blip>
          <a:stretch>
            <a:fillRect/>
          </a:stretch>
        </p:blipFill>
        <p:spPr>
          <a:xfrm>
            <a:off x="152400" y="1170125"/>
            <a:ext cx="6991450" cy="3760199"/>
          </a:xfrm>
          <a:prstGeom prst="rect">
            <a:avLst/>
          </a:prstGeom>
          <a:noFill/>
          <a:ln>
            <a:noFill/>
          </a:ln>
        </p:spPr>
      </p:pic>
      <p:sp>
        <p:nvSpPr>
          <p:cNvPr id="75" name="Google Shape;75;p16"/>
          <p:cNvSpPr txBox="1"/>
          <p:nvPr/>
        </p:nvSpPr>
        <p:spPr>
          <a:xfrm>
            <a:off x="7361250" y="1368800"/>
            <a:ext cx="1563600" cy="32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Fo = 125Hz</a:t>
            </a:r>
            <a:endParaRPr sz="1800">
              <a:solidFill>
                <a:schemeClr val="dk2"/>
              </a:solidFill>
            </a:endParaRPr>
          </a:p>
          <a:p>
            <a:pPr indent="0" lvl="0" marL="0" rtl="0" algn="l">
              <a:spcBef>
                <a:spcPts val="0"/>
              </a:spcBef>
              <a:spcAft>
                <a:spcPts val="0"/>
              </a:spcAft>
              <a:buNone/>
            </a:pPr>
            <a:r>
              <a:rPr lang="es" sz="1800">
                <a:solidFill>
                  <a:schemeClr val="dk2"/>
                </a:solidFill>
              </a:rPr>
              <a:t>Liftering en f=80Hz</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a:solidFill>
                  <a:schemeClr val="dk2"/>
                </a:solidFill>
              </a:rPr>
              <a:t>Recuperó</a:t>
            </a:r>
            <a:r>
              <a:rPr lang="es" sz="1800">
                <a:solidFill>
                  <a:schemeClr val="dk2"/>
                </a:solidFill>
              </a:rPr>
              <a:t> la envolvente del tracto vocal con </a:t>
            </a:r>
            <a:r>
              <a:rPr lang="es" sz="1800">
                <a:solidFill>
                  <a:schemeClr val="dk2"/>
                </a:solidFill>
              </a:rPr>
              <a:t>cepstrum</a:t>
            </a:r>
            <a:r>
              <a:rPr lang="es" sz="1800">
                <a:solidFill>
                  <a:schemeClr val="dk2"/>
                </a:solidFill>
              </a:rPr>
              <a:t>.</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7"/>
          <p:cNvPicPr preferRelativeResize="0"/>
          <p:nvPr/>
        </p:nvPicPr>
        <p:blipFill>
          <a:blip r:embed="rId3">
            <a:alphaModFix/>
          </a:blip>
          <a:stretch>
            <a:fillRect/>
          </a:stretch>
        </p:blipFill>
        <p:spPr>
          <a:xfrm>
            <a:off x="311700" y="1059225"/>
            <a:ext cx="8120475" cy="3961975"/>
          </a:xfrm>
          <a:prstGeom prst="rect">
            <a:avLst/>
          </a:prstGeom>
          <a:noFill/>
          <a:ln>
            <a:noFill/>
          </a:ln>
        </p:spPr>
      </p:pic>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Parametrización de los datos.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290886"/>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Parametrización de los datos - proc. </a:t>
            </a:r>
            <a:r>
              <a:rPr lang="es" sz="2600">
                <a:solidFill>
                  <a:schemeClr val="dk2"/>
                </a:solidFill>
              </a:rPr>
              <a:t>homomórfico</a:t>
            </a:r>
            <a:r>
              <a:rPr lang="es" sz="2600">
                <a:solidFill>
                  <a:schemeClr val="dk2"/>
                </a:solidFill>
              </a:rPr>
              <a:t>.</a:t>
            </a:r>
            <a:endParaRPr/>
          </a:p>
        </p:txBody>
      </p:sp>
      <p:sp>
        <p:nvSpPr>
          <p:cNvPr id="87" name="Google Shape;87;p18"/>
          <p:cNvSpPr/>
          <p:nvPr/>
        </p:nvSpPr>
        <p:spPr>
          <a:xfrm>
            <a:off x="1742691" y="957905"/>
            <a:ext cx="1469100" cy="832500"/>
          </a:xfrm>
          <a:prstGeom prst="roundRect">
            <a:avLst>
              <a:gd fmla="val 16667" name="adj"/>
            </a:avLst>
          </a:prstGeom>
          <a:solidFill>
            <a:srgbClr val="6FC1E9">
              <a:alpha val="79550"/>
            </a:srgbClr>
          </a:solidFill>
          <a:ln cap="flat" cmpd="sng" w="11250">
            <a:solidFill>
              <a:schemeClr val="dk2"/>
            </a:solidFill>
            <a:prstDash val="solid"/>
            <a:round/>
            <a:headEnd len="sm" w="sm" type="none"/>
            <a:tailEnd len="sm" w="sm" type="none"/>
          </a:ln>
        </p:spPr>
        <p:txBody>
          <a:bodyPr anchorCtr="0" anchor="ctr" bIns="107925" lIns="107925" spcFirstLastPara="1" rIns="107925" wrap="square" tIns="107925">
            <a:noAutofit/>
          </a:bodyPr>
          <a:lstStyle/>
          <a:p>
            <a:pPr indent="0" lvl="0" marL="0" rtl="0" algn="l">
              <a:spcBef>
                <a:spcPts val="0"/>
              </a:spcBef>
              <a:spcAft>
                <a:spcPts val="0"/>
              </a:spcAft>
              <a:buNone/>
            </a:pPr>
            <a:r>
              <a:t/>
            </a:r>
            <a:endParaRPr sz="1653">
              <a:solidFill>
                <a:schemeClr val="dk2"/>
              </a:solidFill>
            </a:endParaRPr>
          </a:p>
        </p:txBody>
      </p:sp>
      <p:sp>
        <p:nvSpPr>
          <p:cNvPr id="88" name="Google Shape;88;p18"/>
          <p:cNvSpPr/>
          <p:nvPr/>
        </p:nvSpPr>
        <p:spPr>
          <a:xfrm>
            <a:off x="3819997" y="957905"/>
            <a:ext cx="1469100" cy="832500"/>
          </a:xfrm>
          <a:prstGeom prst="roundRect">
            <a:avLst>
              <a:gd fmla="val 16667" name="adj"/>
            </a:avLst>
          </a:prstGeom>
          <a:solidFill>
            <a:srgbClr val="6FC1E9">
              <a:alpha val="79550"/>
            </a:srgbClr>
          </a:solidFill>
          <a:ln cap="flat" cmpd="sng" w="11250">
            <a:solidFill>
              <a:schemeClr val="dk2"/>
            </a:solidFill>
            <a:prstDash val="solid"/>
            <a:round/>
            <a:headEnd len="sm" w="sm" type="none"/>
            <a:tailEnd len="sm" w="sm" type="none"/>
          </a:ln>
        </p:spPr>
        <p:txBody>
          <a:bodyPr anchorCtr="0" anchor="ctr" bIns="107925" lIns="107925" spcFirstLastPara="1" rIns="107925" wrap="square" tIns="107925">
            <a:noAutofit/>
          </a:bodyPr>
          <a:lstStyle/>
          <a:p>
            <a:pPr indent="0" lvl="0" marL="0" rtl="0" algn="ctr">
              <a:spcBef>
                <a:spcPts val="0"/>
              </a:spcBef>
              <a:spcAft>
                <a:spcPts val="0"/>
              </a:spcAft>
              <a:buNone/>
            </a:pPr>
            <a:r>
              <a:t/>
            </a:r>
            <a:endParaRPr sz="1653">
              <a:solidFill>
                <a:srgbClr val="00FFFF"/>
              </a:solidFill>
            </a:endParaRPr>
          </a:p>
        </p:txBody>
      </p:sp>
      <p:sp>
        <p:nvSpPr>
          <p:cNvPr id="89" name="Google Shape;89;p18"/>
          <p:cNvSpPr/>
          <p:nvPr/>
        </p:nvSpPr>
        <p:spPr>
          <a:xfrm>
            <a:off x="5897303" y="957905"/>
            <a:ext cx="1469100" cy="832500"/>
          </a:xfrm>
          <a:prstGeom prst="roundRect">
            <a:avLst>
              <a:gd fmla="val 16667" name="adj"/>
            </a:avLst>
          </a:prstGeom>
          <a:solidFill>
            <a:srgbClr val="6FC1E9">
              <a:alpha val="79550"/>
            </a:srgbClr>
          </a:solidFill>
          <a:ln cap="flat" cmpd="sng" w="11250">
            <a:solidFill>
              <a:schemeClr val="dk2"/>
            </a:solidFill>
            <a:prstDash val="solid"/>
            <a:round/>
            <a:headEnd len="sm" w="sm" type="none"/>
            <a:tailEnd len="sm" w="sm" type="none"/>
          </a:ln>
        </p:spPr>
        <p:txBody>
          <a:bodyPr anchorCtr="0" anchor="ctr" bIns="107925" lIns="107925" spcFirstLastPara="1" rIns="107925" wrap="square" tIns="107925">
            <a:noAutofit/>
          </a:bodyPr>
          <a:lstStyle/>
          <a:p>
            <a:pPr indent="0" lvl="0" marL="0" rtl="0" algn="ctr">
              <a:spcBef>
                <a:spcPts val="0"/>
              </a:spcBef>
              <a:spcAft>
                <a:spcPts val="0"/>
              </a:spcAft>
              <a:buNone/>
            </a:pPr>
            <a:r>
              <a:t/>
            </a:r>
            <a:endParaRPr sz="1653">
              <a:solidFill>
                <a:srgbClr val="00FFFF"/>
              </a:solidFill>
            </a:endParaRPr>
          </a:p>
        </p:txBody>
      </p:sp>
      <p:cxnSp>
        <p:nvCxnSpPr>
          <p:cNvPr id="90" name="Google Shape;90;p18"/>
          <p:cNvCxnSpPr>
            <a:stCxn id="87" idx="3"/>
            <a:endCxn id="88" idx="1"/>
          </p:cNvCxnSpPr>
          <p:nvPr/>
        </p:nvCxnSpPr>
        <p:spPr>
          <a:xfrm>
            <a:off x="3211791" y="1374155"/>
            <a:ext cx="608100" cy="0"/>
          </a:xfrm>
          <a:prstGeom prst="straightConnector1">
            <a:avLst/>
          </a:prstGeom>
          <a:noFill/>
          <a:ln cap="flat" cmpd="sng" w="11250">
            <a:solidFill>
              <a:schemeClr val="dk2"/>
            </a:solidFill>
            <a:prstDash val="solid"/>
            <a:round/>
            <a:headEnd len="med" w="med" type="none"/>
            <a:tailEnd len="med" w="med" type="triangle"/>
          </a:ln>
        </p:spPr>
      </p:cxnSp>
      <p:cxnSp>
        <p:nvCxnSpPr>
          <p:cNvPr id="91" name="Google Shape;91;p18"/>
          <p:cNvCxnSpPr>
            <a:stCxn id="88" idx="3"/>
            <a:endCxn id="89" idx="1"/>
          </p:cNvCxnSpPr>
          <p:nvPr/>
        </p:nvCxnSpPr>
        <p:spPr>
          <a:xfrm>
            <a:off x="5289097" y="1374155"/>
            <a:ext cx="608100" cy="0"/>
          </a:xfrm>
          <a:prstGeom prst="straightConnector1">
            <a:avLst/>
          </a:prstGeom>
          <a:noFill/>
          <a:ln cap="flat" cmpd="sng" w="11250">
            <a:solidFill>
              <a:schemeClr val="dk2"/>
            </a:solidFill>
            <a:prstDash val="solid"/>
            <a:round/>
            <a:headEnd len="med" w="med" type="none"/>
            <a:tailEnd len="med" w="med" type="triangle"/>
          </a:ln>
        </p:spPr>
      </p:cxnSp>
      <p:cxnSp>
        <p:nvCxnSpPr>
          <p:cNvPr id="92" name="Google Shape;92;p18"/>
          <p:cNvCxnSpPr>
            <a:stCxn id="89" idx="3"/>
          </p:cNvCxnSpPr>
          <p:nvPr/>
        </p:nvCxnSpPr>
        <p:spPr>
          <a:xfrm>
            <a:off x="7366403" y="1374155"/>
            <a:ext cx="399000" cy="0"/>
          </a:xfrm>
          <a:prstGeom prst="straightConnector1">
            <a:avLst/>
          </a:prstGeom>
          <a:noFill/>
          <a:ln cap="flat" cmpd="sng" w="11250">
            <a:solidFill>
              <a:schemeClr val="dk2"/>
            </a:solidFill>
            <a:prstDash val="solid"/>
            <a:round/>
            <a:headEnd len="med" w="med" type="none"/>
            <a:tailEnd len="med" w="med" type="triangle"/>
          </a:ln>
        </p:spPr>
      </p:cxnSp>
      <p:cxnSp>
        <p:nvCxnSpPr>
          <p:cNvPr id="93" name="Google Shape;93;p18"/>
          <p:cNvCxnSpPr>
            <a:endCxn id="87" idx="1"/>
          </p:cNvCxnSpPr>
          <p:nvPr/>
        </p:nvCxnSpPr>
        <p:spPr>
          <a:xfrm>
            <a:off x="1341891" y="1370855"/>
            <a:ext cx="400800" cy="3300"/>
          </a:xfrm>
          <a:prstGeom prst="straightConnector1">
            <a:avLst/>
          </a:prstGeom>
          <a:noFill/>
          <a:ln cap="flat" cmpd="sng" w="11250">
            <a:solidFill>
              <a:schemeClr val="dk2"/>
            </a:solidFill>
            <a:prstDash val="solid"/>
            <a:round/>
            <a:headEnd len="med" w="med" type="none"/>
            <a:tailEnd len="med" w="med" type="triangle"/>
          </a:ln>
        </p:spPr>
      </p:cxnSp>
      <p:sp>
        <p:nvSpPr>
          <p:cNvPr id="94" name="Google Shape;94;p18"/>
          <p:cNvSpPr/>
          <p:nvPr/>
        </p:nvSpPr>
        <p:spPr>
          <a:xfrm>
            <a:off x="1591925" y="2410190"/>
            <a:ext cx="5913000" cy="1066200"/>
          </a:xfrm>
          <a:prstGeom prst="roundRect">
            <a:avLst>
              <a:gd fmla="val 16667" name="adj"/>
            </a:avLst>
          </a:prstGeom>
          <a:solidFill>
            <a:srgbClr val="EFEFEF"/>
          </a:solidFill>
          <a:ln cap="flat" cmpd="sng" w="2857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p:nvPr/>
        </p:nvSpPr>
        <p:spPr>
          <a:xfrm>
            <a:off x="1761038" y="2507230"/>
            <a:ext cx="1469100" cy="832500"/>
          </a:xfrm>
          <a:prstGeom prst="roundRect">
            <a:avLst>
              <a:gd fmla="val 16667" name="adj"/>
            </a:avLst>
          </a:prstGeom>
          <a:solidFill>
            <a:srgbClr val="6FC1E9">
              <a:alpha val="79550"/>
            </a:srgbClr>
          </a:solidFill>
          <a:ln cap="flat" cmpd="sng" w="11250">
            <a:solidFill>
              <a:schemeClr val="dk2"/>
            </a:solidFill>
            <a:prstDash val="solid"/>
            <a:round/>
            <a:headEnd len="sm" w="sm" type="none"/>
            <a:tailEnd len="sm" w="sm" type="none"/>
          </a:ln>
        </p:spPr>
        <p:txBody>
          <a:bodyPr anchorCtr="0" anchor="ctr" bIns="107925" lIns="107925" spcFirstLastPara="1" rIns="107925" wrap="square" tIns="107925">
            <a:noAutofit/>
          </a:bodyPr>
          <a:lstStyle/>
          <a:p>
            <a:pPr indent="0" lvl="0" marL="0" rtl="0" algn="ctr">
              <a:spcBef>
                <a:spcPts val="0"/>
              </a:spcBef>
              <a:spcAft>
                <a:spcPts val="0"/>
              </a:spcAft>
              <a:buNone/>
            </a:pPr>
            <a:r>
              <a:t/>
            </a:r>
            <a:endParaRPr sz="1653">
              <a:solidFill>
                <a:srgbClr val="00FFFF"/>
              </a:solidFill>
            </a:endParaRPr>
          </a:p>
        </p:txBody>
      </p:sp>
      <p:sp>
        <p:nvSpPr>
          <p:cNvPr id="96" name="Google Shape;96;p18"/>
          <p:cNvSpPr/>
          <p:nvPr/>
        </p:nvSpPr>
        <p:spPr>
          <a:xfrm>
            <a:off x="3838345" y="2507230"/>
            <a:ext cx="1469100" cy="832500"/>
          </a:xfrm>
          <a:prstGeom prst="roundRect">
            <a:avLst>
              <a:gd fmla="val 16667" name="adj"/>
            </a:avLst>
          </a:prstGeom>
          <a:solidFill>
            <a:srgbClr val="6FC1E9">
              <a:alpha val="79550"/>
            </a:srgbClr>
          </a:solidFill>
          <a:ln cap="flat" cmpd="sng" w="11250">
            <a:solidFill>
              <a:schemeClr val="dk2"/>
            </a:solidFill>
            <a:prstDash val="solid"/>
            <a:round/>
            <a:headEnd len="sm" w="sm" type="none"/>
            <a:tailEnd len="sm" w="sm" type="none"/>
          </a:ln>
        </p:spPr>
        <p:txBody>
          <a:bodyPr anchorCtr="0" anchor="ctr" bIns="107925" lIns="107925" spcFirstLastPara="1" rIns="107925" wrap="square" tIns="107925">
            <a:noAutofit/>
          </a:bodyPr>
          <a:lstStyle/>
          <a:p>
            <a:pPr indent="0" lvl="0" marL="0" rtl="0" algn="ctr">
              <a:spcBef>
                <a:spcPts val="0"/>
              </a:spcBef>
              <a:spcAft>
                <a:spcPts val="0"/>
              </a:spcAft>
              <a:buNone/>
            </a:pPr>
            <a:r>
              <a:t/>
            </a:r>
            <a:endParaRPr sz="1653">
              <a:solidFill>
                <a:srgbClr val="00FFFF"/>
              </a:solidFill>
            </a:endParaRPr>
          </a:p>
        </p:txBody>
      </p:sp>
      <p:sp>
        <p:nvSpPr>
          <p:cNvPr id="97" name="Google Shape;97;p18"/>
          <p:cNvSpPr/>
          <p:nvPr/>
        </p:nvSpPr>
        <p:spPr>
          <a:xfrm>
            <a:off x="5915651" y="2507230"/>
            <a:ext cx="1469100" cy="832500"/>
          </a:xfrm>
          <a:prstGeom prst="roundRect">
            <a:avLst>
              <a:gd fmla="val 16667" name="adj"/>
            </a:avLst>
          </a:prstGeom>
          <a:solidFill>
            <a:srgbClr val="6FC1E9">
              <a:alpha val="79550"/>
            </a:srgbClr>
          </a:solidFill>
          <a:ln cap="flat" cmpd="sng" w="11250">
            <a:solidFill>
              <a:schemeClr val="dk2"/>
            </a:solidFill>
            <a:prstDash val="solid"/>
            <a:round/>
            <a:headEnd len="sm" w="sm" type="none"/>
            <a:tailEnd len="sm" w="sm" type="none"/>
          </a:ln>
        </p:spPr>
        <p:txBody>
          <a:bodyPr anchorCtr="0" anchor="ctr" bIns="107925" lIns="107925" spcFirstLastPara="1" rIns="107925" wrap="square" tIns="107925">
            <a:noAutofit/>
          </a:bodyPr>
          <a:lstStyle/>
          <a:p>
            <a:pPr indent="0" lvl="0" marL="0" rtl="0" algn="ctr">
              <a:spcBef>
                <a:spcPts val="0"/>
              </a:spcBef>
              <a:spcAft>
                <a:spcPts val="0"/>
              </a:spcAft>
              <a:buNone/>
            </a:pPr>
            <a:r>
              <a:t/>
            </a:r>
            <a:endParaRPr sz="1653">
              <a:solidFill>
                <a:srgbClr val="00FFFF"/>
              </a:solidFill>
            </a:endParaRPr>
          </a:p>
        </p:txBody>
      </p:sp>
      <p:cxnSp>
        <p:nvCxnSpPr>
          <p:cNvPr id="98" name="Google Shape;98;p18"/>
          <p:cNvCxnSpPr>
            <a:stCxn id="95" idx="3"/>
            <a:endCxn id="96" idx="1"/>
          </p:cNvCxnSpPr>
          <p:nvPr/>
        </p:nvCxnSpPr>
        <p:spPr>
          <a:xfrm>
            <a:off x="3230138" y="2923480"/>
            <a:ext cx="608100" cy="0"/>
          </a:xfrm>
          <a:prstGeom prst="straightConnector1">
            <a:avLst/>
          </a:prstGeom>
          <a:noFill/>
          <a:ln cap="flat" cmpd="sng" w="11250">
            <a:solidFill>
              <a:schemeClr val="dk2"/>
            </a:solidFill>
            <a:prstDash val="solid"/>
            <a:round/>
            <a:headEnd len="med" w="med" type="none"/>
            <a:tailEnd len="med" w="med" type="triangle"/>
          </a:ln>
        </p:spPr>
      </p:cxnSp>
      <p:cxnSp>
        <p:nvCxnSpPr>
          <p:cNvPr id="99" name="Google Shape;99;p18"/>
          <p:cNvCxnSpPr>
            <a:stCxn id="96" idx="3"/>
            <a:endCxn id="97" idx="1"/>
          </p:cNvCxnSpPr>
          <p:nvPr/>
        </p:nvCxnSpPr>
        <p:spPr>
          <a:xfrm>
            <a:off x="5307445" y="2923480"/>
            <a:ext cx="608100" cy="0"/>
          </a:xfrm>
          <a:prstGeom prst="straightConnector1">
            <a:avLst/>
          </a:prstGeom>
          <a:noFill/>
          <a:ln cap="flat" cmpd="sng" w="11250">
            <a:solidFill>
              <a:schemeClr val="dk2"/>
            </a:solidFill>
            <a:prstDash val="solid"/>
            <a:round/>
            <a:headEnd len="med" w="med" type="none"/>
            <a:tailEnd len="med" w="med" type="triangle"/>
          </a:ln>
        </p:spPr>
      </p:cxnSp>
      <p:cxnSp>
        <p:nvCxnSpPr>
          <p:cNvPr id="100" name="Google Shape;100;p18"/>
          <p:cNvCxnSpPr>
            <a:stCxn id="97" idx="3"/>
          </p:cNvCxnSpPr>
          <p:nvPr/>
        </p:nvCxnSpPr>
        <p:spPr>
          <a:xfrm>
            <a:off x="7384751" y="2923480"/>
            <a:ext cx="399000" cy="0"/>
          </a:xfrm>
          <a:prstGeom prst="straightConnector1">
            <a:avLst/>
          </a:prstGeom>
          <a:noFill/>
          <a:ln cap="flat" cmpd="sng" w="11250">
            <a:solidFill>
              <a:schemeClr val="dk2"/>
            </a:solidFill>
            <a:prstDash val="solid"/>
            <a:round/>
            <a:headEnd len="med" w="med" type="none"/>
            <a:tailEnd len="med" w="med" type="triangle"/>
          </a:ln>
        </p:spPr>
      </p:cxnSp>
      <p:cxnSp>
        <p:nvCxnSpPr>
          <p:cNvPr id="101" name="Google Shape;101;p18"/>
          <p:cNvCxnSpPr>
            <a:endCxn id="95" idx="1"/>
          </p:cNvCxnSpPr>
          <p:nvPr/>
        </p:nvCxnSpPr>
        <p:spPr>
          <a:xfrm>
            <a:off x="1360238" y="2920180"/>
            <a:ext cx="400800" cy="3300"/>
          </a:xfrm>
          <a:prstGeom prst="straightConnector1">
            <a:avLst/>
          </a:prstGeom>
          <a:noFill/>
          <a:ln cap="flat" cmpd="sng" w="11250">
            <a:solidFill>
              <a:schemeClr val="dk2"/>
            </a:solidFill>
            <a:prstDash val="solid"/>
            <a:round/>
            <a:headEnd len="med" w="med" type="none"/>
            <a:tailEnd len="med" w="med" type="triangle"/>
          </a:ln>
        </p:spPr>
      </p:cxnSp>
      <p:pic>
        <p:nvPicPr>
          <p:cNvPr descr="{&quot;type&quot;:&quot;$$&quot;,&quot;code&quot;:&quot;$$\\mathcal{D_{*}\\left\\{\\right\\}}$$&quot;,&quot;id&quot;:&quot;1&quot;,&quot;font&quot;:{&quot;family&quot;:&quot;Arial&quot;,&quot;size&quot;:16.526399612426758,&quot;color&quot;:&quot;#595959&quot;},&quot;aid&quot;:null,&quot;backgroundColor&quot;:&quot;#6FC1E9&quot;,&quot;backgroundColorModified&quot;:false,&quot;ts&quot;:1771261058496,&quot;cs&quot;:&quot;HRDZuggpHMvzT693dwJEMQ==&quot;,&quot;size&quot;:{&quot;width&quot;:59.166666666666664,&quot;height&quot;:25.833333333333353}}" id="102" name="Google Shape;102;p18"/>
          <p:cNvPicPr preferRelativeResize="0"/>
          <p:nvPr/>
        </p:nvPicPr>
        <p:blipFill>
          <a:blip r:embed="rId3">
            <a:alphaModFix/>
          </a:blip>
          <a:stretch>
            <a:fillRect/>
          </a:stretch>
        </p:blipFill>
        <p:spPr>
          <a:xfrm>
            <a:off x="2215313" y="1257941"/>
            <a:ext cx="563563" cy="246063"/>
          </a:xfrm>
          <a:prstGeom prst="rect">
            <a:avLst/>
          </a:prstGeom>
          <a:noFill/>
          <a:ln>
            <a:noFill/>
          </a:ln>
        </p:spPr>
      </p:pic>
      <p:pic>
        <p:nvPicPr>
          <p:cNvPr descr="{&quot;type&quot;:&quot;$$&quot;,&quot;font&quot;:{&quot;size&quot;:16.526399612426758,&quot;family&quot;:&quot;Arial&quot;,&quot;color&quot;:&quot;#000000&quot;},&quot;id&quot;:&quot;2&quot;,&quot;backgroundColor&quot;:&quot;#6FC1E9&quot;,&quot;backgroundColorModified&quot;:false,&quot;aid&quot;:null,&quot;code&quot;:&quot;$$\\mathcal{L\\left\\{\\right\\}}$$&quot;,&quot;ts&quot;:1771260901738,&quot;cs&quot;:&quot;glBk4VGjxTDlAB2m6iqCMQ==&quot;,&quot;size&quot;:{&quot;width&quot;:45.5,&quot;height&quot;:25.833333333333332}}" id="103" name="Google Shape;103;p18"/>
          <p:cNvPicPr preferRelativeResize="0"/>
          <p:nvPr/>
        </p:nvPicPr>
        <p:blipFill>
          <a:blip r:embed="rId4">
            <a:alphaModFix/>
          </a:blip>
          <a:stretch>
            <a:fillRect/>
          </a:stretch>
        </p:blipFill>
        <p:spPr>
          <a:xfrm>
            <a:off x="4357100" y="1257930"/>
            <a:ext cx="433388" cy="246063"/>
          </a:xfrm>
          <a:prstGeom prst="rect">
            <a:avLst/>
          </a:prstGeom>
          <a:noFill/>
          <a:ln>
            <a:noFill/>
          </a:ln>
        </p:spPr>
      </p:pic>
      <p:pic>
        <p:nvPicPr>
          <p:cNvPr descr="{&quot;backgroundColor&quot;:&quot;#FFFFFF&quot;,&quot;aid&quot;:null,&quot;id&quot;:&quot;3&quot;,&quot;backgroundColorModified&quot;:false,&quot;type&quot;:&quot;$$&quot;,&quot;font&quot;:{&quot;family&quot;:&quot;Arial&quot;,&quot;color&quot;:&quot;#000000&quot;,&quot;size&quot;:16.526399612426758},&quot;code&quot;:&quot;$$\\mathcal{D_{*}^{-1}\\left\\{\\right\\}}$$&quot;,&quot;ts&quot;:1771260996814,&quot;cs&quot;:&quot;05cd29qxd8etyrZP+xLmjw==&quot;,&quot;size&quot;:{&quot;width&quot;:73.83333333333333,&quot;height&quot;:29.333333333333332}}" id="104" name="Google Shape;104;p18"/>
          <p:cNvPicPr preferRelativeResize="0"/>
          <p:nvPr/>
        </p:nvPicPr>
        <p:blipFill>
          <a:blip r:embed="rId5">
            <a:alphaModFix/>
          </a:blip>
          <a:stretch>
            <a:fillRect/>
          </a:stretch>
        </p:blipFill>
        <p:spPr>
          <a:xfrm>
            <a:off x="6280163" y="1232805"/>
            <a:ext cx="703263" cy="279400"/>
          </a:xfrm>
          <a:prstGeom prst="rect">
            <a:avLst/>
          </a:prstGeom>
          <a:noFill/>
          <a:ln>
            <a:noFill/>
          </a:ln>
        </p:spPr>
      </p:pic>
      <p:pic>
        <p:nvPicPr>
          <p:cNvPr descr="{&quot;font&quot;:{&quot;family&quot;:&quot;Arial&quot;,&quot;color&quot;:&quot;#000000&quot;,&quot;size&quot;:16.526399612426758},&quot;code&quot;:&quot;$$\\mathcal{Z\\left\\{\\right\\}}$$&quot;,&quot;type&quot;:&quot;$$&quot;,&quot;backgroundColorModified&quot;:false,&quot;backgroundColor&quot;:&quot;#6FC1E9&quot;,&quot;aid&quot;:null,&quot;id&quot;:&quot;4&quot;,&quot;ts&quot;:1771261158064,&quot;cs&quot;:&quot;n7h4VHZj7mrF/bn4qukzLw==&quot;,&quot;size&quot;:{&quot;width&quot;:47.5,&quot;height&quot;:25.833333333333332}}" id="105" name="Google Shape;105;p18"/>
          <p:cNvPicPr preferRelativeResize="0"/>
          <p:nvPr/>
        </p:nvPicPr>
        <p:blipFill>
          <a:blip r:embed="rId6">
            <a:alphaModFix/>
          </a:blip>
          <a:stretch>
            <a:fillRect/>
          </a:stretch>
        </p:blipFill>
        <p:spPr>
          <a:xfrm>
            <a:off x="2215325" y="2798803"/>
            <a:ext cx="452438" cy="246063"/>
          </a:xfrm>
          <a:prstGeom prst="rect">
            <a:avLst/>
          </a:prstGeom>
          <a:noFill/>
          <a:ln>
            <a:noFill/>
          </a:ln>
        </p:spPr>
      </p:pic>
      <p:pic>
        <p:nvPicPr>
          <p:cNvPr descr="{&quot;type&quot;:&quot;$$&quot;,&quot;id&quot;:&quot;5&quot;,&quot;backgroundColor&quot;:&quot;#6FC1E9&quot;,&quot;font&quot;:{&quot;family&quot;:&quot;Arial&quot;,&quot;size&quot;:16.526399612426758,&quot;color&quot;:&quot;#000000&quot;},&quot;code&quot;:&quot;$$\\mathcal{log\\left\\{\\right\\}}$$&quot;,&quot;aid&quot;:null,&quot;backgroundColorModified&quot;:false,&quot;ts&quot;:1771261195803,&quot;cs&quot;:&quot;OuNZR98RKznVgDaAjmKSBw==&quot;,&quot;size&quot;:{&quot;width&quot;:60.166666666666664,&quot;height&quot;:25.833333333333332}}" id="106" name="Google Shape;106;p18"/>
          <p:cNvPicPr preferRelativeResize="0"/>
          <p:nvPr/>
        </p:nvPicPr>
        <p:blipFill>
          <a:blip r:embed="rId7">
            <a:alphaModFix/>
          </a:blip>
          <a:stretch>
            <a:fillRect/>
          </a:stretch>
        </p:blipFill>
        <p:spPr>
          <a:xfrm>
            <a:off x="4286300" y="2798803"/>
            <a:ext cx="573088" cy="246063"/>
          </a:xfrm>
          <a:prstGeom prst="rect">
            <a:avLst/>
          </a:prstGeom>
          <a:noFill/>
          <a:ln>
            <a:noFill/>
          </a:ln>
        </p:spPr>
      </p:pic>
      <p:pic>
        <p:nvPicPr>
          <p:cNvPr descr="{&quot;id&quot;:&quot;6&quot;,&quot;code&quot;:&quot;$$\\mathcal{Z^{-1}\\left\\{\\right\\}}$$&quot;,&quot;backgroundColor&quot;:&quot;#6FC1E9&quot;,&quot;font&quot;:{&quot;color&quot;:&quot;#000000&quot;,&quot;size&quot;:16.526399612426758,&quot;family&quot;:&quot;Arial&quot;},&quot;aid&quot;:null,&quot;backgroundColorModified&quot;:false,&quot;type&quot;:&quot;$$&quot;,&quot;ts&quot;:1771261227065,&quot;cs&quot;:&quot;PvJlk9QKEE1CKCXsn205/Q==&quot;,&quot;size&quot;:{&quot;width&quot;:74.5,&quot;height&quot;:29.333333333333332}}" id="107" name="Google Shape;107;p18"/>
          <p:cNvPicPr preferRelativeResize="0"/>
          <p:nvPr/>
        </p:nvPicPr>
        <p:blipFill>
          <a:blip r:embed="rId8">
            <a:alphaModFix/>
          </a:blip>
          <a:stretch>
            <a:fillRect/>
          </a:stretch>
        </p:blipFill>
        <p:spPr>
          <a:xfrm>
            <a:off x="6276988" y="2783790"/>
            <a:ext cx="709613" cy="279400"/>
          </a:xfrm>
          <a:prstGeom prst="rect">
            <a:avLst/>
          </a:prstGeom>
          <a:noFill/>
          <a:ln>
            <a:noFill/>
          </a:ln>
        </p:spPr>
      </p:pic>
      <p:pic>
        <p:nvPicPr>
          <p:cNvPr descr="{&quot;type&quot;:&quot;$$&quot;,&quot;code&quot;:&quot;$$\\mathcal{D_{*}\\left\\{\\right\\}}$$&quot;,&quot;id&quot;:&quot;1&quot;,&quot;font&quot;:{&quot;family&quot;:&quot;Arial&quot;,&quot;size&quot;:16.526399612426758,&quot;color&quot;:&quot;#595959&quot;},&quot;aid&quot;:null,&quot;backgroundColor&quot;:&quot;#6FC1E9&quot;,&quot;backgroundColorModified&quot;:false,&quot;ts&quot;:1771261058496,&quot;cs&quot;:&quot;HRDZuggpHMvzT693dwJEMQ==&quot;,&quot;size&quot;:{&quot;width&quot;:59.166666666666664,&quot;height&quot;:25.833333333333353}}" id="108" name="Google Shape;108;p18"/>
          <p:cNvPicPr preferRelativeResize="0"/>
          <p:nvPr/>
        </p:nvPicPr>
        <p:blipFill>
          <a:blip r:embed="rId3">
            <a:alphaModFix/>
          </a:blip>
          <a:stretch>
            <a:fillRect/>
          </a:stretch>
        </p:blipFill>
        <p:spPr>
          <a:xfrm>
            <a:off x="4290213" y="2169046"/>
            <a:ext cx="563563" cy="246063"/>
          </a:xfrm>
          <a:prstGeom prst="rect">
            <a:avLst/>
          </a:prstGeom>
          <a:noFill/>
          <a:ln>
            <a:noFill/>
          </a:ln>
        </p:spPr>
      </p:pic>
      <p:sp>
        <p:nvSpPr>
          <p:cNvPr id="109" name="Google Shape;109;p18"/>
          <p:cNvSpPr txBox="1"/>
          <p:nvPr/>
        </p:nvSpPr>
        <p:spPr>
          <a:xfrm>
            <a:off x="1310000" y="882330"/>
            <a:ext cx="282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2"/>
                </a:solidFill>
              </a:rPr>
              <a:t>*</a:t>
            </a:r>
            <a:endParaRPr sz="2000">
              <a:solidFill>
                <a:schemeClr val="dk2"/>
              </a:solidFill>
            </a:endParaRPr>
          </a:p>
        </p:txBody>
      </p:sp>
      <p:sp>
        <p:nvSpPr>
          <p:cNvPr id="110" name="Google Shape;110;p18"/>
          <p:cNvSpPr txBox="1"/>
          <p:nvPr/>
        </p:nvSpPr>
        <p:spPr>
          <a:xfrm>
            <a:off x="1267790" y="2532355"/>
            <a:ext cx="244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2"/>
                </a:solidFill>
              </a:rPr>
              <a:t>*</a:t>
            </a:r>
            <a:endParaRPr/>
          </a:p>
        </p:txBody>
      </p:sp>
      <p:sp>
        <p:nvSpPr>
          <p:cNvPr id="111" name="Google Shape;111;p18"/>
          <p:cNvSpPr txBox="1"/>
          <p:nvPr/>
        </p:nvSpPr>
        <p:spPr>
          <a:xfrm>
            <a:off x="7517100" y="882330"/>
            <a:ext cx="282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2"/>
                </a:solidFill>
              </a:rPr>
              <a:t>*</a:t>
            </a:r>
            <a:endParaRPr sz="2000">
              <a:solidFill>
                <a:schemeClr val="dk2"/>
              </a:solidFill>
            </a:endParaRPr>
          </a:p>
        </p:txBody>
      </p:sp>
      <p:sp>
        <p:nvSpPr>
          <p:cNvPr id="112" name="Google Shape;112;p18"/>
          <p:cNvSpPr txBox="1"/>
          <p:nvPr/>
        </p:nvSpPr>
        <p:spPr>
          <a:xfrm>
            <a:off x="3182920" y="882330"/>
            <a:ext cx="282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2"/>
                </a:solidFill>
              </a:rPr>
              <a:t>+</a:t>
            </a:r>
            <a:endParaRPr sz="2000">
              <a:solidFill>
                <a:schemeClr val="dk2"/>
              </a:solidFill>
            </a:endParaRPr>
          </a:p>
        </p:txBody>
      </p:sp>
      <p:sp>
        <p:nvSpPr>
          <p:cNvPr id="113" name="Google Shape;113;p18"/>
          <p:cNvSpPr txBox="1"/>
          <p:nvPr/>
        </p:nvSpPr>
        <p:spPr>
          <a:xfrm>
            <a:off x="3538050" y="882330"/>
            <a:ext cx="282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2"/>
                </a:solidFill>
              </a:rPr>
              <a:t>+</a:t>
            </a:r>
            <a:endParaRPr sz="2000">
              <a:solidFill>
                <a:schemeClr val="dk2"/>
              </a:solidFill>
            </a:endParaRPr>
          </a:p>
        </p:txBody>
      </p:sp>
      <p:sp>
        <p:nvSpPr>
          <p:cNvPr id="114" name="Google Shape;114;p18"/>
          <p:cNvSpPr txBox="1"/>
          <p:nvPr/>
        </p:nvSpPr>
        <p:spPr>
          <a:xfrm>
            <a:off x="5274583" y="868413"/>
            <a:ext cx="282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2"/>
                </a:solidFill>
              </a:rPr>
              <a:t>+</a:t>
            </a:r>
            <a:endParaRPr sz="2000">
              <a:solidFill>
                <a:schemeClr val="dk2"/>
              </a:solidFill>
            </a:endParaRPr>
          </a:p>
        </p:txBody>
      </p:sp>
      <p:sp>
        <p:nvSpPr>
          <p:cNvPr id="115" name="Google Shape;115;p18"/>
          <p:cNvSpPr txBox="1"/>
          <p:nvPr/>
        </p:nvSpPr>
        <p:spPr>
          <a:xfrm>
            <a:off x="5629713" y="868413"/>
            <a:ext cx="282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2"/>
                </a:solidFill>
              </a:rPr>
              <a:t>+</a:t>
            </a:r>
            <a:endParaRPr sz="2000">
              <a:solidFill>
                <a:schemeClr val="dk2"/>
              </a:solidFill>
            </a:endParaRPr>
          </a:p>
        </p:txBody>
      </p:sp>
      <p:sp>
        <p:nvSpPr>
          <p:cNvPr id="116" name="Google Shape;116;p18"/>
          <p:cNvSpPr/>
          <p:nvPr/>
        </p:nvSpPr>
        <p:spPr>
          <a:xfrm>
            <a:off x="1639950" y="3826990"/>
            <a:ext cx="5913000" cy="1066200"/>
          </a:xfrm>
          <a:prstGeom prst="roundRect">
            <a:avLst>
              <a:gd fmla="val 16667" name="adj"/>
            </a:avLst>
          </a:prstGeom>
          <a:solidFill>
            <a:srgbClr val="EFEFEF"/>
          </a:solidFill>
          <a:ln cap="flat" cmpd="sng" w="2857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8"/>
          <p:cNvSpPr/>
          <p:nvPr/>
        </p:nvSpPr>
        <p:spPr>
          <a:xfrm>
            <a:off x="1809063" y="3924030"/>
            <a:ext cx="1469100" cy="832500"/>
          </a:xfrm>
          <a:prstGeom prst="roundRect">
            <a:avLst>
              <a:gd fmla="val 16667" name="adj"/>
            </a:avLst>
          </a:prstGeom>
          <a:solidFill>
            <a:srgbClr val="6FC1E9">
              <a:alpha val="79550"/>
            </a:srgbClr>
          </a:solidFill>
          <a:ln cap="flat" cmpd="sng" w="11250">
            <a:solidFill>
              <a:schemeClr val="dk2"/>
            </a:solidFill>
            <a:prstDash val="solid"/>
            <a:round/>
            <a:headEnd len="sm" w="sm" type="none"/>
            <a:tailEnd len="sm" w="sm" type="none"/>
          </a:ln>
        </p:spPr>
        <p:txBody>
          <a:bodyPr anchorCtr="0" anchor="ctr" bIns="107925" lIns="107925" spcFirstLastPara="1" rIns="107925" wrap="square" tIns="107925">
            <a:noAutofit/>
          </a:bodyPr>
          <a:lstStyle/>
          <a:p>
            <a:pPr indent="0" lvl="0" marL="0" rtl="0" algn="ctr">
              <a:spcBef>
                <a:spcPts val="0"/>
              </a:spcBef>
              <a:spcAft>
                <a:spcPts val="0"/>
              </a:spcAft>
              <a:buNone/>
            </a:pPr>
            <a:r>
              <a:t/>
            </a:r>
            <a:endParaRPr sz="1653">
              <a:solidFill>
                <a:srgbClr val="00FFFF"/>
              </a:solidFill>
            </a:endParaRPr>
          </a:p>
        </p:txBody>
      </p:sp>
      <p:sp>
        <p:nvSpPr>
          <p:cNvPr id="118" name="Google Shape;118;p18"/>
          <p:cNvSpPr/>
          <p:nvPr/>
        </p:nvSpPr>
        <p:spPr>
          <a:xfrm>
            <a:off x="3886370" y="3924030"/>
            <a:ext cx="1469100" cy="832500"/>
          </a:xfrm>
          <a:prstGeom prst="roundRect">
            <a:avLst>
              <a:gd fmla="val 16667" name="adj"/>
            </a:avLst>
          </a:prstGeom>
          <a:solidFill>
            <a:srgbClr val="6FC1E9">
              <a:alpha val="79550"/>
            </a:srgbClr>
          </a:solidFill>
          <a:ln cap="flat" cmpd="sng" w="11250">
            <a:solidFill>
              <a:schemeClr val="dk2"/>
            </a:solidFill>
            <a:prstDash val="solid"/>
            <a:round/>
            <a:headEnd len="sm" w="sm" type="none"/>
            <a:tailEnd len="sm" w="sm" type="none"/>
          </a:ln>
        </p:spPr>
        <p:txBody>
          <a:bodyPr anchorCtr="0" anchor="ctr" bIns="107925" lIns="107925" spcFirstLastPara="1" rIns="107925" wrap="square" tIns="107925">
            <a:noAutofit/>
          </a:bodyPr>
          <a:lstStyle/>
          <a:p>
            <a:pPr indent="0" lvl="0" marL="0" rtl="0" algn="ctr">
              <a:spcBef>
                <a:spcPts val="0"/>
              </a:spcBef>
              <a:spcAft>
                <a:spcPts val="0"/>
              </a:spcAft>
              <a:buNone/>
            </a:pPr>
            <a:r>
              <a:t/>
            </a:r>
            <a:endParaRPr sz="1653">
              <a:solidFill>
                <a:srgbClr val="00FFFF"/>
              </a:solidFill>
            </a:endParaRPr>
          </a:p>
        </p:txBody>
      </p:sp>
      <p:sp>
        <p:nvSpPr>
          <p:cNvPr id="119" name="Google Shape;119;p18"/>
          <p:cNvSpPr/>
          <p:nvPr/>
        </p:nvSpPr>
        <p:spPr>
          <a:xfrm>
            <a:off x="5963676" y="3924030"/>
            <a:ext cx="1469100" cy="832500"/>
          </a:xfrm>
          <a:prstGeom prst="roundRect">
            <a:avLst>
              <a:gd fmla="val 16667" name="adj"/>
            </a:avLst>
          </a:prstGeom>
          <a:solidFill>
            <a:srgbClr val="6FC1E9">
              <a:alpha val="79550"/>
            </a:srgbClr>
          </a:solidFill>
          <a:ln cap="flat" cmpd="sng" w="11250">
            <a:solidFill>
              <a:schemeClr val="dk2"/>
            </a:solidFill>
            <a:prstDash val="solid"/>
            <a:round/>
            <a:headEnd len="sm" w="sm" type="none"/>
            <a:tailEnd len="sm" w="sm" type="none"/>
          </a:ln>
        </p:spPr>
        <p:txBody>
          <a:bodyPr anchorCtr="0" anchor="ctr" bIns="107925" lIns="107925" spcFirstLastPara="1" rIns="107925" wrap="square" tIns="107925">
            <a:noAutofit/>
          </a:bodyPr>
          <a:lstStyle/>
          <a:p>
            <a:pPr indent="0" lvl="0" marL="0" rtl="0" algn="ctr">
              <a:spcBef>
                <a:spcPts val="0"/>
              </a:spcBef>
              <a:spcAft>
                <a:spcPts val="0"/>
              </a:spcAft>
              <a:buNone/>
            </a:pPr>
            <a:r>
              <a:t/>
            </a:r>
            <a:endParaRPr sz="1653">
              <a:solidFill>
                <a:srgbClr val="00FFFF"/>
              </a:solidFill>
            </a:endParaRPr>
          </a:p>
        </p:txBody>
      </p:sp>
      <p:cxnSp>
        <p:nvCxnSpPr>
          <p:cNvPr id="120" name="Google Shape;120;p18"/>
          <p:cNvCxnSpPr>
            <a:stCxn id="117" idx="3"/>
            <a:endCxn id="118" idx="1"/>
          </p:cNvCxnSpPr>
          <p:nvPr/>
        </p:nvCxnSpPr>
        <p:spPr>
          <a:xfrm>
            <a:off x="3278163" y="4340280"/>
            <a:ext cx="608100" cy="0"/>
          </a:xfrm>
          <a:prstGeom prst="straightConnector1">
            <a:avLst/>
          </a:prstGeom>
          <a:noFill/>
          <a:ln cap="flat" cmpd="sng" w="11250">
            <a:solidFill>
              <a:schemeClr val="dk2"/>
            </a:solidFill>
            <a:prstDash val="solid"/>
            <a:round/>
            <a:headEnd len="med" w="med" type="none"/>
            <a:tailEnd len="med" w="med" type="triangle"/>
          </a:ln>
        </p:spPr>
      </p:cxnSp>
      <p:cxnSp>
        <p:nvCxnSpPr>
          <p:cNvPr id="121" name="Google Shape;121;p18"/>
          <p:cNvCxnSpPr>
            <a:stCxn id="118" idx="3"/>
            <a:endCxn id="119" idx="1"/>
          </p:cNvCxnSpPr>
          <p:nvPr/>
        </p:nvCxnSpPr>
        <p:spPr>
          <a:xfrm>
            <a:off x="5355470" y="4340280"/>
            <a:ext cx="608100" cy="0"/>
          </a:xfrm>
          <a:prstGeom prst="straightConnector1">
            <a:avLst/>
          </a:prstGeom>
          <a:noFill/>
          <a:ln cap="flat" cmpd="sng" w="11250">
            <a:solidFill>
              <a:schemeClr val="dk2"/>
            </a:solidFill>
            <a:prstDash val="solid"/>
            <a:round/>
            <a:headEnd len="med" w="med" type="none"/>
            <a:tailEnd len="med" w="med" type="triangle"/>
          </a:ln>
        </p:spPr>
      </p:cxnSp>
      <p:cxnSp>
        <p:nvCxnSpPr>
          <p:cNvPr id="122" name="Google Shape;122;p18"/>
          <p:cNvCxnSpPr>
            <a:stCxn id="119" idx="3"/>
          </p:cNvCxnSpPr>
          <p:nvPr/>
        </p:nvCxnSpPr>
        <p:spPr>
          <a:xfrm>
            <a:off x="7432776" y="4340280"/>
            <a:ext cx="399000" cy="0"/>
          </a:xfrm>
          <a:prstGeom prst="straightConnector1">
            <a:avLst/>
          </a:prstGeom>
          <a:noFill/>
          <a:ln cap="flat" cmpd="sng" w="11250">
            <a:solidFill>
              <a:schemeClr val="dk2"/>
            </a:solidFill>
            <a:prstDash val="solid"/>
            <a:round/>
            <a:headEnd len="med" w="med" type="none"/>
            <a:tailEnd len="med" w="med" type="triangle"/>
          </a:ln>
        </p:spPr>
      </p:cxnSp>
      <p:cxnSp>
        <p:nvCxnSpPr>
          <p:cNvPr id="123" name="Google Shape;123;p18"/>
          <p:cNvCxnSpPr>
            <a:endCxn id="117" idx="1"/>
          </p:cNvCxnSpPr>
          <p:nvPr/>
        </p:nvCxnSpPr>
        <p:spPr>
          <a:xfrm>
            <a:off x="1408263" y="4336980"/>
            <a:ext cx="400800" cy="3300"/>
          </a:xfrm>
          <a:prstGeom prst="straightConnector1">
            <a:avLst/>
          </a:prstGeom>
          <a:noFill/>
          <a:ln cap="flat" cmpd="sng" w="11250">
            <a:solidFill>
              <a:schemeClr val="dk2"/>
            </a:solidFill>
            <a:prstDash val="solid"/>
            <a:round/>
            <a:headEnd len="med" w="med" type="none"/>
            <a:tailEnd len="med" w="med" type="triangle"/>
          </a:ln>
        </p:spPr>
      </p:cxnSp>
      <p:pic>
        <p:nvPicPr>
          <p:cNvPr descr="{&quot;font&quot;:{&quot;family&quot;:&quot;Arial&quot;,&quot;color&quot;:&quot;#000000&quot;,&quot;size&quot;:16.526399612426758},&quot;code&quot;:&quot;$$\\mathcal{Z\\left\\{\\right\\}}$$&quot;,&quot;type&quot;:&quot;$$&quot;,&quot;backgroundColorModified&quot;:false,&quot;backgroundColor&quot;:&quot;#6FC1E9&quot;,&quot;aid&quot;:null,&quot;id&quot;:&quot;4&quot;,&quot;ts&quot;:1771261158064,&quot;cs&quot;:&quot;n7h4VHZj7mrF/bn4qukzLw==&quot;,&quot;size&quot;:{&quot;width&quot;:47.5,&quot;height&quot;:25.833333333333332}}" id="124" name="Google Shape;124;p18"/>
          <p:cNvPicPr preferRelativeResize="0"/>
          <p:nvPr/>
        </p:nvPicPr>
        <p:blipFill>
          <a:blip r:embed="rId6">
            <a:alphaModFix/>
          </a:blip>
          <a:stretch>
            <a:fillRect/>
          </a:stretch>
        </p:blipFill>
        <p:spPr>
          <a:xfrm>
            <a:off x="2263350" y="4215603"/>
            <a:ext cx="452438" cy="246063"/>
          </a:xfrm>
          <a:prstGeom prst="rect">
            <a:avLst/>
          </a:prstGeom>
          <a:noFill/>
          <a:ln>
            <a:noFill/>
          </a:ln>
        </p:spPr>
      </p:pic>
      <p:pic>
        <p:nvPicPr>
          <p:cNvPr descr="{&quot;type&quot;:&quot;$$&quot;,&quot;backgroundColor&quot;:&quot;#6FC1E9&quot;,&quot;code&quot;:&quot;$$\\mathcal{exp\\left\\{\\right\\}}$$&quot;,&quot;aid&quot;:null,&quot;id&quot;:&quot;5&quot;,&quot;font&quot;:{&quot;color&quot;:&quot;#000000&quot;,&quot;family&quot;:&quot;Arial&quot;,&quot;size&quot;:16.526399612426758},&quot;backgroundColorModified&quot;:false,&quot;ts&quot;:1771261653448,&quot;cs&quot;:&quot;hP0KYA7NmyzbqhyZoGLVWg==&quot;,&quot;size&quot;:{&quot;width&quot;:67.33333333333333,&quot;height&quot;:25.833333333333332}}" id="125" name="Google Shape;125;p18"/>
          <p:cNvPicPr preferRelativeResize="0"/>
          <p:nvPr/>
        </p:nvPicPr>
        <p:blipFill>
          <a:blip r:embed="rId9">
            <a:alphaModFix/>
          </a:blip>
          <a:stretch>
            <a:fillRect/>
          </a:stretch>
        </p:blipFill>
        <p:spPr>
          <a:xfrm>
            <a:off x="4334325" y="4228697"/>
            <a:ext cx="641350" cy="246063"/>
          </a:xfrm>
          <a:prstGeom prst="rect">
            <a:avLst/>
          </a:prstGeom>
          <a:noFill/>
          <a:ln>
            <a:noFill/>
          </a:ln>
        </p:spPr>
      </p:pic>
      <p:pic>
        <p:nvPicPr>
          <p:cNvPr descr="{&quot;id&quot;:&quot;6&quot;,&quot;code&quot;:&quot;$$\\mathcal{Z^{-1}\\left\\{\\right\\}}$$&quot;,&quot;backgroundColor&quot;:&quot;#6FC1E9&quot;,&quot;font&quot;:{&quot;color&quot;:&quot;#000000&quot;,&quot;size&quot;:16.526399612426758,&quot;family&quot;:&quot;Arial&quot;},&quot;aid&quot;:null,&quot;backgroundColorModified&quot;:false,&quot;type&quot;:&quot;$$&quot;,&quot;ts&quot;:1771261227065,&quot;cs&quot;:&quot;PvJlk9QKEE1CKCXsn205/Q==&quot;,&quot;size&quot;:{&quot;width&quot;:74.5,&quot;height&quot;:29.333333333333332}}" id="126" name="Google Shape;126;p18"/>
          <p:cNvPicPr preferRelativeResize="0"/>
          <p:nvPr/>
        </p:nvPicPr>
        <p:blipFill>
          <a:blip r:embed="rId8">
            <a:alphaModFix/>
          </a:blip>
          <a:stretch>
            <a:fillRect/>
          </a:stretch>
        </p:blipFill>
        <p:spPr>
          <a:xfrm>
            <a:off x="6325013" y="4200590"/>
            <a:ext cx="709613" cy="279400"/>
          </a:xfrm>
          <a:prstGeom prst="rect">
            <a:avLst/>
          </a:prstGeom>
          <a:noFill/>
          <a:ln>
            <a:noFill/>
          </a:ln>
        </p:spPr>
      </p:pic>
      <p:sp>
        <p:nvSpPr>
          <p:cNvPr id="127" name="Google Shape;127;p18"/>
          <p:cNvSpPr txBox="1"/>
          <p:nvPr/>
        </p:nvSpPr>
        <p:spPr>
          <a:xfrm>
            <a:off x="7556600" y="3916285"/>
            <a:ext cx="244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2"/>
                </a:solidFill>
              </a:rPr>
              <a:t>*</a:t>
            </a:r>
            <a:endParaRPr/>
          </a:p>
        </p:txBody>
      </p:sp>
      <p:pic>
        <p:nvPicPr>
          <p:cNvPr descr="{&quot;backgroundColor&quot;:&quot;#FFFFFF&quot;,&quot;aid&quot;:null,&quot;id&quot;:&quot;3&quot;,&quot;backgroundColorModified&quot;:false,&quot;type&quot;:&quot;$$&quot;,&quot;font&quot;:{&quot;family&quot;:&quot;Arial&quot;,&quot;color&quot;:&quot;#000000&quot;,&quot;size&quot;:16.526399612426758},&quot;code&quot;:&quot;$$\\mathcal{D_{*}^{-1}\\left\\{\\right\\}}$$&quot;,&quot;ts&quot;:1771260996814,&quot;cs&quot;:&quot;05cd29qxd8etyrZP+xLmjw==&quot;,&quot;size&quot;:{&quot;width&quot;:73.83333333333333,&quot;height&quot;:29.333333333333332}}" id="128" name="Google Shape;128;p18"/>
          <p:cNvPicPr preferRelativeResize="0"/>
          <p:nvPr/>
        </p:nvPicPr>
        <p:blipFill>
          <a:blip r:embed="rId5">
            <a:alphaModFix/>
          </a:blip>
          <a:stretch>
            <a:fillRect/>
          </a:stretch>
        </p:blipFill>
        <p:spPr>
          <a:xfrm>
            <a:off x="4196788" y="3545275"/>
            <a:ext cx="703263" cy="279400"/>
          </a:xfrm>
          <a:prstGeom prst="rect">
            <a:avLst/>
          </a:prstGeom>
          <a:noFill/>
          <a:ln>
            <a:noFill/>
          </a:ln>
        </p:spPr>
      </p:pic>
      <p:sp>
        <p:nvSpPr>
          <p:cNvPr id="129" name="Google Shape;129;p18"/>
          <p:cNvSpPr txBox="1"/>
          <p:nvPr/>
        </p:nvSpPr>
        <p:spPr>
          <a:xfrm>
            <a:off x="7531210" y="2499620"/>
            <a:ext cx="282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2"/>
                </a:solidFill>
              </a:rPr>
              <a:t>+</a:t>
            </a:r>
            <a:endParaRPr sz="2000">
              <a:solidFill>
                <a:schemeClr val="dk2"/>
              </a:solidFill>
            </a:endParaRPr>
          </a:p>
        </p:txBody>
      </p:sp>
      <p:sp>
        <p:nvSpPr>
          <p:cNvPr id="130" name="Google Shape;130;p18"/>
          <p:cNvSpPr txBox="1"/>
          <p:nvPr/>
        </p:nvSpPr>
        <p:spPr>
          <a:xfrm>
            <a:off x="1279520" y="3928455"/>
            <a:ext cx="282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2"/>
                </a:solidFill>
              </a:rPr>
              <a:t>+</a:t>
            </a:r>
            <a:endParaRPr sz="2000">
              <a:solidFill>
                <a:schemeClr val="dk2"/>
              </a:solidFill>
            </a:endParaRPr>
          </a:p>
        </p:txBody>
      </p:sp>
      <p:pic>
        <p:nvPicPr>
          <p:cNvPr descr="{&quot;aid&quot;:null,&quot;id&quot;:&quot;7&quot;,&quot;backgroundColorModified&quot;:false,&quot;type&quot;:&quot;$$&quot;,&quot;backgroundColor&quot;:&quot;#FFFFFF&quot;,&quot;code&quot;:&quot;$$x_{1}\\left(n\\right)*x_{2}\\left(n\\right)$$&quot;,&quot;font&quot;:{&quot;color&quot;:&quot;#000000&quot;,&quot;size&quot;:14,&quot;family&quot;:&quot;Arial&quot;},&quot;ts&quot;:1771262009979,&quot;cs&quot;:&quot;hsJTw6lI8X1DbujGRiH0HA==&quot;,&quot;size&quot;:{&quot;width&quot;:129.66666666666666,&quot;height&quot;:22}}" id="131" name="Google Shape;131;p18"/>
          <p:cNvPicPr preferRelativeResize="0"/>
          <p:nvPr/>
        </p:nvPicPr>
        <p:blipFill>
          <a:blip r:embed="rId10">
            <a:alphaModFix/>
          </a:blip>
          <a:stretch>
            <a:fillRect/>
          </a:stretch>
        </p:blipFill>
        <p:spPr>
          <a:xfrm>
            <a:off x="772513" y="1802266"/>
            <a:ext cx="1235075" cy="209550"/>
          </a:xfrm>
          <a:prstGeom prst="rect">
            <a:avLst/>
          </a:prstGeom>
          <a:noFill/>
          <a:ln>
            <a:noFill/>
          </a:ln>
        </p:spPr>
      </p:pic>
      <p:pic>
        <p:nvPicPr>
          <p:cNvPr descr="{&quot;code&quot;:&quot;$$y_{1}\\left(n\\right)*y_{2}\\left(n\\right)$$&quot;,&quot;aid&quot;:null,&quot;font&quot;:{&quot;size&quot;:14,&quot;color&quot;:&quot;#000000&quot;,&quot;family&quot;:&quot;Arial&quot;},&quot;id&quot;:&quot;7&quot;,&quot;backgroundColorModified&quot;:false,&quot;type&quot;:&quot;$$&quot;,&quot;backgroundColor&quot;:&quot;#FFFFFF&quot;,&quot;ts&quot;:1771262047949,&quot;cs&quot;:&quot;rNS8V/0I5hk1O1wYJ+6hXA==&quot;,&quot;size&quot;:{&quot;width&quot;:126.5,&quot;height&quot;:22}}" id="132" name="Google Shape;132;p18"/>
          <p:cNvPicPr preferRelativeResize="0"/>
          <p:nvPr/>
        </p:nvPicPr>
        <p:blipFill>
          <a:blip r:embed="rId11">
            <a:alphaModFix/>
          </a:blip>
          <a:stretch>
            <a:fillRect/>
          </a:stretch>
        </p:blipFill>
        <p:spPr>
          <a:xfrm>
            <a:off x="7023556" y="1821154"/>
            <a:ext cx="1204913" cy="209550"/>
          </a:xfrm>
          <a:prstGeom prst="rect">
            <a:avLst/>
          </a:prstGeom>
          <a:noFill/>
          <a:ln>
            <a:noFill/>
          </a:ln>
        </p:spPr>
      </p:pic>
      <p:pic>
        <p:nvPicPr>
          <p:cNvPr descr="{&quot;code&quot;:&quot;$$\\hat{x}_{1}\\left(n\\right)+\\hat{x}_{2}\\left(n\\right)$$&quot;,&quot;type&quot;:&quot;$$&quot;,&quot;aid&quot;:null,&quot;backgroundColor&quot;:&quot;#FFFFFF&quot;,&quot;backgroundColorModified&quot;:false,&quot;id&quot;:&quot;7&quot;,&quot;font&quot;:{&quot;family&quot;:&quot;Arial&quot;,&quot;color&quot;:&quot;#000000&quot;,&quot;size&quot;:14},&quot;ts&quot;:1771262119507,&quot;cs&quot;:&quot;LKtp1P3S6UgyoaZSScTLqQ==&quot;,&quot;size&quot;:{&quot;width&quot;:135.83333333333334,&quot;height&quot;:22}}" id="133" name="Google Shape;133;p18"/>
          <p:cNvPicPr preferRelativeResize="0"/>
          <p:nvPr/>
        </p:nvPicPr>
        <p:blipFill>
          <a:blip r:embed="rId12">
            <a:alphaModFix/>
          </a:blip>
          <a:stretch>
            <a:fillRect/>
          </a:stretch>
        </p:blipFill>
        <p:spPr>
          <a:xfrm>
            <a:off x="2837950" y="1821142"/>
            <a:ext cx="1293813" cy="209550"/>
          </a:xfrm>
          <a:prstGeom prst="rect">
            <a:avLst/>
          </a:prstGeom>
          <a:noFill/>
          <a:ln>
            <a:noFill/>
          </a:ln>
        </p:spPr>
      </p:pic>
      <p:pic>
        <p:nvPicPr>
          <p:cNvPr descr="{&quot;aid&quot;:null,&quot;backgroundColor&quot;:&quot;#FFFFFF&quot;,&quot;code&quot;:&quot;$$\\hat{y}_{1}\\left(n\\right)+\\hat{y}_{2}\\left(n\\right)$$&quot;,&quot;type&quot;:&quot;$$&quot;,&quot;id&quot;:&quot;7&quot;,&quot;backgroundColorModified&quot;:false,&quot;font&quot;:{&quot;size&quot;:14,&quot;family&quot;:&quot;Arial&quot;,&quot;color&quot;:&quot;#000000&quot;},&quot;ts&quot;:1771262149456,&quot;cs&quot;:&quot;2OQ37/tI4HEOVAvrM3f+OQ==&quot;,&quot;size&quot;:{&quot;width&quot;:132.5,&quot;height&quot;:22}}" id="134" name="Google Shape;134;p18"/>
          <p:cNvPicPr preferRelativeResize="0"/>
          <p:nvPr/>
        </p:nvPicPr>
        <p:blipFill>
          <a:blip r:embed="rId13">
            <a:alphaModFix/>
          </a:blip>
          <a:stretch>
            <a:fillRect/>
          </a:stretch>
        </p:blipFill>
        <p:spPr>
          <a:xfrm>
            <a:off x="4962113" y="1821151"/>
            <a:ext cx="1262063" cy="209550"/>
          </a:xfrm>
          <a:prstGeom prst="rect">
            <a:avLst/>
          </a:prstGeom>
          <a:noFill/>
          <a:ln>
            <a:noFill/>
          </a:ln>
        </p:spPr>
      </p:pic>
      <p:sp>
        <p:nvSpPr>
          <p:cNvPr id="135" name="Google Shape;135;p18"/>
          <p:cNvSpPr txBox="1"/>
          <p:nvPr/>
        </p:nvSpPr>
        <p:spPr>
          <a:xfrm>
            <a:off x="2607019" y="2095210"/>
            <a:ext cx="1769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2"/>
                </a:solidFill>
              </a:rPr>
              <a:t>Sistema </a:t>
            </a:r>
            <a:r>
              <a:rPr lang="es" sz="1200">
                <a:solidFill>
                  <a:schemeClr val="dk2"/>
                </a:solidFill>
              </a:rPr>
              <a:t>característico</a:t>
            </a:r>
            <a:endParaRPr sz="12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Parametrización de los datos - Mel freq.</a:t>
            </a:r>
            <a:endParaRPr/>
          </a:p>
        </p:txBody>
      </p:sp>
      <p:pic>
        <p:nvPicPr>
          <p:cNvPr id="141" name="Google Shape;141;p19"/>
          <p:cNvPicPr preferRelativeResize="0"/>
          <p:nvPr/>
        </p:nvPicPr>
        <p:blipFill>
          <a:blip r:embed="rId3">
            <a:alphaModFix/>
          </a:blip>
          <a:stretch>
            <a:fillRect/>
          </a:stretch>
        </p:blipFill>
        <p:spPr>
          <a:xfrm>
            <a:off x="3417600" y="1886475"/>
            <a:ext cx="3844825" cy="2781375"/>
          </a:xfrm>
          <a:prstGeom prst="rect">
            <a:avLst/>
          </a:prstGeom>
          <a:noFill/>
          <a:ln>
            <a:noFill/>
          </a:ln>
        </p:spPr>
      </p:pic>
      <p:pic>
        <p:nvPicPr>
          <p:cNvPr id="142" name="Google Shape;142;p19"/>
          <p:cNvPicPr preferRelativeResize="0"/>
          <p:nvPr/>
        </p:nvPicPr>
        <p:blipFill>
          <a:blip r:embed="rId4">
            <a:alphaModFix/>
          </a:blip>
          <a:stretch>
            <a:fillRect/>
          </a:stretch>
        </p:blipFill>
        <p:spPr>
          <a:xfrm>
            <a:off x="198067" y="1056839"/>
            <a:ext cx="3219533" cy="2781375"/>
          </a:xfrm>
          <a:prstGeom prst="rect">
            <a:avLst/>
          </a:prstGeom>
          <a:noFill/>
          <a:ln>
            <a:noFill/>
          </a:ln>
        </p:spPr>
      </p:pic>
      <p:pic>
        <p:nvPicPr>
          <p:cNvPr id="143" name="Google Shape;143;p19"/>
          <p:cNvPicPr preferRelativeResize="0"/>
          <p:nvPr/>
        </p:nvPicPr>
        <p:blipFill>
          <a:blip r:embed="rId5">
            <a:alphaModFix/>
          </a:blip>
          <a:stretch>
            <a:fillRect/>
          </a:stretch>
        </p:blipFill>
        <p:spPr>
          <a:xfrm>
            <a:off x="369400" y="3968105"/>
            <a:ext cx="1508650" cy="424575"/>
          </a:xfrm>
          <a:prstGeom prst="rect">
            <a:avLst/>
          </a:prstGeom>
          <a:noFill/>
          <a:ln>
            <a:noFill/>
          </a:ln>
        </p:spPr>
      </p:pic>
      <p:pic>
        <p:nvPicPr>
          <p:cNvPr id="144" name="Google Shape;144;p19"/>
          <p:cNvPicPr preferRelativeResize="0"/>
          <p:nvPr/>
        </p:nvPicPr>
        <p:blipFill>
          <a:blip r:embed="rId6">
            <a:alphaModFix/>
          </a:blip>
          <a:stretch>
            <a:fillRect/>
          </a:stretch>
        </p:blipFill>
        <p:spPr>
          <a:xfrm>
            <a:off x="790961" y="4470819"/>
            <a:ext cx="3007839" cy="572700"/>
          </a:xfrm>
          <a:prstGeom prst="rect">
            <a:avLst/>
          </a:prstGeom>
          <a:noFill/>
          <a:ln>
            <a:noFill/>
          </a:ln>
        </p:spPr>
      </p:pic>
      <p:cxnSp>
        <p:nvCxnSpPr>
          <p:cNvPr id="145" name="Google Shape;145;p19"/>
          <p:cNvCxnSpPr>
            <a:endCxn id="143" idx="3"/>
          </p:cNvCxnSpPr>
          <p:nvPr/>
        </p:nvCxnSpPr>
        <p:spPr>
          <a:xfrm flipH="1">
            <a:off x="1878050" y="3874393"/>
            <a:ext cx="411000" cy="306000"/>
          </a:xfrm>
          <a:prstGeom prst="curvedConnector3">
            <a:avLst>
              <a:gd fmla="val -5049" name="adj1"/>
            </a:avLst>
          </a:prstGeom>
          <a:noFill/>
          <a:ln cap="flat" cmpd="sng" w="28575">
            <a:solidFill>
              <a:schemeClr val="dk2"/>
            </a:solidFill>
            <a:prstDash val="solid"/>
            <a:round/>
            <a:headEnd len="med" w="med" type="none"/>
            <a:tailEnd len="med" w="med" type="none"/>
          </a:ln>
        </p:spPr>
      </p:cxnSp>
      <p:cxnSp>
        <p:nvCxnSpPr>
          <p:cNvPr id="146" name="Google Shape;146;p19"/>
          <p:cNvCxnSpPr>
            <a:stCxn id="143" idx="1"/>
            <a:endCxn id="144" idx="1"/>
          </p:cNvCxnSpPr>
          <p:nvPr/>
        </p:nvCxnSpPr>
        <p:spPr>
          <a:xfrm>
            <a:off x="369400" y="4180393"/>
            <a:ext cx="421500" cy="576900"/>
          </a:xfrm>
          <a:prstGeom prst="curvedConnector3">
            <a:avLst>
              <a:gd fmla="val -56495" name="adj1"/>
            </a:avLst>
          </a:prstGeom>
          <a:noFill/>
          <a:ln cap="flat" cmpd="sng" w="28575">
            <a:solidFill>
              <a:schemeClr val="dk2"/>
            </a:solidFill>
            <a:prstDash val="solid"/>
            <a:round/>
            <a:headEnd len="med" w="med" type="none"/>
            <a:tailEnd len="med" w="med" type="none"/>
          </a:ln>
        </p:spPr>
      </p:cxnSp>
      <p:cxnSp>
        <p:nvCxnSpPr>
          <p:cNvPr id="147" name="Google Shape;147;p19"/>
          <p:cNvCxnSpPr>
            <a:stCxn id="144" idx="3"/>
            <a:endCxn id="141" idx="2"/>
          </p:cNvCxnSpPr>
          <p:nvPr/>
        </p:nvCxnSpPr>
        <p:spPr>
          <a:xfrm flipH="1" rot="10800000">
            <a:off x="3798800" y="4667769"/>
            <a:ext cx="1541100" cy="89400"/>
          </a:xfrm>
          <a:prstGeom prst="curvedConnector2">
            <a:avLst/>
          </a:prstGeom>
          <a:noFill/>
          <a:ln cap="flat" cmpd="sng" w="28575">
            <a:solidFill>
              <a:schemeClr val="dk2"/>
            </a:solidFill>
            <a:prstDash val="solid"/>
            <a:round/>
            <a:headEnd len="med" w="med" type="none"/>
            <a:tailEnd len="med" w="med" type="none"/>
          </a:ln>
        </p:spPr>
      </p:cxnSp>
      <p:cxnSp>
        <p:nvCxnSpPr>
          <p:cNvPr id="148" name="Google Shape;148;p19"/>
          <p:cNvCxnSpPr>
            <a:stCxn id="143" idx="3"/>
          </p:cNvCxnSpPr>
          <p:nvPr/>
        </p:nvCxnSpPr>
        <p:spPr>
          <a:xfrm flipH="1" rot="10800000">
            <a:off x="1878050" y="3522193"/>
            <a:ext cx="1829400" cy="658200"/>
          </a:xfrm>
          <a:prstGeom prst="curvedConnector3">
            <a:avLst>
              <a:gd fmla="val 71139" name="adj1"/>
            </a:avLst>
          </a:prstGeom>
          <a:noFill/>
          <a:ln cap="flat" cmpd="sng" w="28575">
            <a:solidFill>
              <a:schemeClr val="dk2"/>
            </a:solidFill>
            <a:prstDash val="solid"/>
            <a:round/>
            <a:headEnd len="med" w="med" type="none"/>
            <a:tailEnd len="med" w="med" type="none"/>
          </a:ln>
        </p:spPr>
      </p:cxnSp>
      <p:sp>
        <p:nvSpPr>
          <p:cNvPr id="149" name="Google Shape;149;p19"/>
          <p:cNvSpPr txBox="1"/>
          <p:nvPr/>
        </p:nvSpPr>
        <p:spPr>
          <a:xfrm>
            <a:off x="3576675" y="1317050"/>
            <a:ext cx="4871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Esto es agregar </a:t>
            </a:r>
            <a:r>
              <a:rPr lang="es" sz="1800">
                <a:solidFill>
                  <a:schemeClr val="dk2"/>
                </a:solidFill>
              </a:rPr>
              <a:t>información</a:t>
            </a:r>
            <a:r>
              <a:rPr lang="es" sz="1800">
                <a:solidFill>
                  <a:schemeClr val="dk2"/>
                </a:solidFill>
              </a:rPr>
              <a:t> </a:t>
            </a:r>
            <a:r>
              <a:rPr lang="es" sz="1800">
                <a:solidFill>
                  <a:schemeClr val="dk2"/>
                </a:solidFill>
              </a:rPr>
              <a:t>biológica</a:t>
            </a:r>
            <a:r>
              <a:rPr lang="es" sz="1800">
                <a:solidFill>
                  <a:schemeClr val="dk2"/>
                </a:solidFill>
              </a:rPr>
              <a:t>.</a:t>
            </a:r>
            <a:endParaRPr sz="1800">
              <a:solidFill>
                <a:schemeClr val="dk2"/>
              </a:solidFill>
            </a:endParaRPr>
          </a:p>
        </p:txBody>
      </p:sp>
      <p:pic>
        <p:nvPicPr>
          <p:cNvPr id="150" name="Google Shape;150;p19"/>
          <p:cNvPicPr preferRelativeResize="0"/>
          <p:nvPr/>
        </p:nvPicPr>
        <p:blipFill>
          <a:blip r:embed="rId7">
            <a:alphaModFix/>
          </a:blip>
          <a:stretch>
            <a:fillRect/>
          </a:stretch>
        </p:blipFill>
        <p:spPr>
          <a:xfrm>
            <a:off x="6744760" y="2139784"/>
            <a:ext cx="2326751" cy="1071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0"/>
          <p:cNvSpPr txBox="1"/>
          <p:nvPr>
            <p:ph type="title"/>
          </p:nvPr>
        </p:nvSpPr>
        <p:spPr>
          <a:xfrm>
            <a:off x="311700" y="445025"/>
            <a:ext cx="7454100" cy="923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Parametrización de los datos </a:t>
            </a:r>
            <a:endParaRPr sz="2600">
              <a:solidFill>
                <a:schemeClr val="dk2"/>
              </a:solidFill>
            </a:endParaRPr>
          </a:p>
          <a:p>
            <a:pPr indent="0" lvl="0" marL="457200" rtl="0" algn="l">
              <a:lnSpc>
                <a:spcPct val="115000"/>
              </a:lnSpc>
              <a:spcBef>
                <a:spcPts val="1200"/>
              </a:spcBef>
              <a:spcAft>
                <a:spcPts val="1200"/>
              </a:spcAft>
              <a:buNone/>
            </a:pPr>
            <a:r>
              <a:rPr lang="es" sz="2600">
                <a:solidFill>
                  <a:schemeClr val="dk2"/>
                </a:solidFill>
              </a:rPr>
              <a:t> Mel-</a:t>
            </a:r>
            <a:r>
              <a:rPr lang="es" sz="2600">
                <a:solidFill>
                  <a:schemeClr val="dk2"/>
                </a:solidFill>
              </a:rPr>
              <a:t>Cepstrum </a:t>
            </a:r>
            <a:r>
              <a:rPr lang="es" sz="2600">
                <a:solidFill>
                  <a:schemeClr val="dk2"/>
                </a:solidFill>
              </a:rPr>
              <a:t>- HTK.</a:t>
            </a:r>
            <a:endParaRPr/>
          </a:p>
        </p:txBody>
      </p:sp>
      <p:pic>
        <p:nvPicPr>
          <p:cNvPr id="156" name="Google Shape;156;p20"/>
          <p:cNvPicPr preferRelativeResize="0"/>
          <p:nvPr/>
        </p:nvPicPr>
        <p:blipFill rotWithShape="1">
          <a:blip r:embed="rId4">
            <a:alphaModFix/>
          </a:blip>
          <a:srcRect b="0" l="0" r="0" t="23530"/>
          <a:stretch/>
        </p:blipFill>
        <p:spPr>
          <a:xfrm>
            <a:off x="473350" y="1918999"/>
            <a:ext cx="3869737" cy="2795470"/>
          </a:xfrm>
          <a:prstGeom prst="rect">
            <a:avLst/>
          </a:prstGeom>
          <a:noFill/>
          <a:ln>
            <a:noFill/>
          </a:ln>
        </p:spPr>
      </p:pic>
      <p:pic>
        <p:nvPicPr>
          <p:cNvPr id="157" name="Google Shape;157;p20"/>
          <p:cNvPicPr preferRelativeResize="0"/>
          <p:nvPr/>
        </p:nvPicPr>
        <p:blipFill>
          <a:blip r:embed="rId5">
            <a:alphaModFix/>
          </a:blip>
          <a:stretch>
            <a:fillRect/>
          </a:stretch>
        </p:blipFill>
        <p:spPr>
          <a:xfrm>
            <a:off x="4398935" y="2758511"/>
            <a:ext cx="2021065" cy="547898"/>
          </a:xfrm>
          <a:prstGeom prst="rect">
            <a:avLst/>
          </a:prstGeom>
          <a:noFill/>
          <a:ln>
            <a:noFill/>
          </a:ln>
        </p:spPr>
      </p:pic>
      <p:pic>
        <p:nvPicPr>
          <p:cNvPr id="158" name="Google Shape;158;p20"/>
          <p:cNvPicPr preferRelativeResize="0"/>
          <p:nvPr/>
        </p:nvPicPr>
        <p:blipFill>
          <a:blip r:embed="rId6">
            <a:alphaModFix/>
          </a:blip>
          <a:stretch>
            <a:fillRect/>
          </a:stretch>
        </p:blipFill>
        <p:spPr>
          <a:xfrm>
            <a:off x="4353064" y="3941739"/>
            <a:ext cx="1811837" cy="610538"/>
          </a:xfrm>
          <a:prstGeom prst="rect">
            <a:avLst/>
          </a:prstGeom>
          <a:noFill/>
          <a:ln>
            <a:noFill/>
          </a:ln>
        </p:spPr>
      </p:pic>
      <p:cxnSp>
        <p:nvCxnSpPr>
          <p:cNvPr id="159" name="Google Shape;159;p20"/>
          <p:cNvCxnSpPr/>
          <p:nvPr/>
        </p:nvCxnSpPr>
        <p:spPr>
          <a:xfrm flipH="1">
            <a:off x="4225289" y="3091894"/>
            <a:ext cx="432600" cy="393000"/>
          </a:xfrm>
          <a:prstGeom prst="curvedConnector3">
            <a:avLst>
              <a:gd fmla="val 50000" name="adj1"/>
            </a:avLst>
          </a:prstGeom>
          <a:noFill/>
          <a:ln cap="flat" cmpd="sng" w="27350">
            <a:solidFill>
              <a:schemeClr val="accent1"/>
            </a:solidFill>
            <a:prstDash val="solid"/>
            <a:round/>
            <a:headEnd len="med" w="med" type="none"/>
            <a:tailEnd len="med" w="med" type="none"/>
          </a:ln>
        </p:spPr>
      </p:cxnSp>
      <p:cxnSp>
        <p:nvCxnSpPr>
          <p:cNvPr id="160" name="Google Shape;160;p20"/>
          <p:cNvCxnSpPr/>
          <p:nvPr/>
        </p:nvCxnSpPr>
        <p:spPr>
          <a:xfrm>
            <a:off x="3574176" y="3544219"/>
            <a:ext cx="1579500" cy="614100"/>
          </a:xfrm>
          <a:prstGeom prst="curvedConnector3">
            <a:avLst>
              <a:gd fmla="val 95917" name="adj1"/>
            </a:avLst>
          </a:prstGeom>
          <a:noFill/>
          <a:ln cap="flat" cmpd="sng" w="27350">
            <a:solidFill>
              <a:schemeClr val="accent1"/>
            </a:solidFill>
            <a:prstDash val="solid"/>
            <a:round/>
            <a:headEnd len="med" w="med" type="none"/>
            <a:tailEnd len="med" w="med" type="none"/>
          </a:ln>
        </p:spPr>
      </p:cxnSp>
      <p:cxnSp>
        <p:nvCxnSpPr>
          <p:cNvPr id="161" name="Google Shape;161;p20"/>
          <p:cNvCxnSpPr/>
          <p:nvPr/>
        </p:nvCxnSpPr>
        <p:spPr>
          <a:xfrm flipH="1">
            <a:off x="3778836" y="4217829"/>
            <a:ext cx="620100" cy="138600"/>
          </a:xfrm>
          <a:prstGeom prst="curvedConnector3">
            <a:avLst>
              <a:gd fmla="val 50000" name="adj1"/>
            </a:avLst>
          </a:prstGeom>
          <a:noFill/>
          <a:ln cap="flat" cmpd="sng" w="27350">
            <a:solidFill>
              <a:schemeClr val="accent1"/>
            </a:solidFill>
            <a:prstDash val="solid"/>
            <a:round/>
            <a:headEnd len="med" w="med" type="none"/>
            <a:tailEnd len="med" w="med" type="none"/>
          </a:ln>
        </p:spPr>
      </p:cxnSp>
      <p:sp>
        <p:nvSpPr>
          <p:cNvPr id="162" name="Google Shape;162;p20"/>
          <p:cNvSpPr txBox="1"/>
          <p:nvPr/>
        </p:nvSpPr>
        <p:spPr>
          <a:xfrm>
            <a:off x="4200637" y="3555259"/>
            <a:ext cx="1871100" cy="393000"/>
          </a:xfrm>
          <a:prstGeom prst="rect">
            <a:avLst/>
          </a:prstGeom>
          <a:noFill/>
          <a:ln>
            <a:noFill/>
          </a:ln>
        </p:spPr>
        <p:txBody>
          <a:bodyPr anchorCtr="0" anchor="t" bIns="87475" lIns="87475" spcFirstLastPara="1" rIns="87475" wrap="square" tIns="87475">
            <a:noAutofit/>
          </a:bodyPr>
          <a:lstStyle/>
          <a:p>
            <a:pPr indent="0" lvl="0" marL="0" rtl="0" algn="l">
              <a:spcBef>
                <a:spcPts val="0"/>
              </a:spcBef>
              <a:spcAft>
                <a:spcPts val="0"/>
              </a:spcAft>
              <a:buNone/>
            </a:pPr>
            <a:r>
              <a:rPr lang="es" sz="1722">
                <a:solidFill>
                  <a:schemeClr val="dk2"/>
                </a:solidFill>
              </a:rPr>
              <a:t>Calculo Energia</a:t>
            </a:r>
            <a:endParaRPr sz="1722">
              <a:solidFill>
                <a:schemeClr val="dk2"/>
              </a:solidFill>
            </a:endParaRPr>
          </a:p>
        </p:txBody>
      </p:sp>
      <p:pic>
        <p:nvPicPr>
          <p:cNvPr id="163" name="Google Shape;163;p20"/>
          <p:cNvPicPr preferRelativeResize="0"/>
          <p:nvPr/>
        </p:nvPicPr>
        <p:blipFill>
          <a:blip r:embed="rId7">
            <a:alphaModFix/>
          </a:blip>
          <a:stretch>
            <a:fillRect/>
          </a:stretch>
        </p:blipFill>
        <p:spPr>
          <a:xfrm>
            <a:off x="6444299" y="998275"/>
            <a:ext cx="2419200" cy="2567423"/>
          </a:xfrm>
          <a:prstGeom prst="rect">
            <a:avLst/>
          </a:prstGeom>
          <a:noFill/>
          <a:ln>
            <a:noFill/>
          </a:ln>
        </p:spPr>
      </p:pic>
      <p:pic>
        <p:nvPicPr>
          <p:cNvPr id="164" name="Google Shape;164;p20"/>
          <p:cNvPicPr preferRelativeResize="0"/>
          <p:nvPr/>
        </p:nvPicPr>
        <p:blipFill>
          <a:blip r:embed="rId8">
            <a:alphaModFix/>
          </a:blip>
          <a:stretch>
            <a:fillRect/>
          </a:stretch>
        </p:blipFill>
        <p:spPr>
          <a:xfrm>
            <a:off x="4343071" y="1017721"/>
            <a:ext cx="1613775" cy="1881674"/>
          </a:xfrm>
          <a:prstGeom prst="rect">
            <a:avLst/>
          </a:prstGeom>
          <a:noFill/>
          <a:ln>
            <a:noFill/>
          </a:ln>
        </p:spPr>
      </p:pic>
      <p:pic>
        <p:nvPicPr>
          <p:cNvPr id="165" name="Google Shape;165;p20"/>
          <p:cNvPicPr preferRelativeResize="0"/>
          <p:nvPr/>
        </p:nvPicPr>
        <p:blipFill>
          <a:blip r:embed="rId9">
            <a:alphaModFix/>
          </a:blip>
          <a:stretch>
            <a:fillRect/>
          </a:stretch>
        </p:blipFill>
        <p:spPr>
          <a:xfrm>
            <a:off x="6543043" y="367543"/>
            <a:ext cx="1811825" cy="543997"/>
          </a:xfrm>
          <a:prstGeom prst="rect">
            <a:avLst/>
          </a:prstGeom>
          <a:noFill/>
          <a:ln>
            <a:noFill/>
          </a:ln>
        </p:spPr>
      </p:pic>
      <p:sp>
        <p:nvSpPr>
          <p:cNvPr id="166" name="Google Shape;166;p20"/>
          <p:cNvSpPr/>
          <p:nvPr/>
        </p:nvSpPr>
        <p:spPr>
          <a:xfrm>
            <a:off x="8418175" y="536185"/>
            <a:ext cx="402775" cy="585450"/>
          </a:xfrm>
          <a:custGeom>
            <a:rect b="b" l="l" r="r" t="t"/>
            <a:pathLst>
              <a:path extrusionOk="0" h="23418" w="16111">
                <a:moveTo>
                  <a:pt x="0" y="22952"/>
                </a:moveTo>
                <a:cubicBezTo>
                  <a:pt x="6888" y="25706"/>
                  <a:pt x="18082" y="14253"/>
                  <a:pt x="15737" y="7215"/>
                </a:cubicBezTo>
                <a:cubicBezTo>
                  <a:pt x="14222" y="2669"/>
                  <a:pt x="6448" y="4316"/>
                  <a:pt x="1656" y="4316"/>
                </a:cubicBezTo>
                <a:cubicBezTo>
                  <a:pt x="1242" y="4316"/>
                  <a:pt x="697" y="4709"/>
                  <a:pt x="828" y="4316"/>
                </a:cubicBezTo>
                <a:cubicBezTo>
                  <a:pt x="1581" y="2063"/>
                  <a:pt x="4502" y="1237"/>
                  <a:pt x="6626" y="175"/>
                </a:cubicBezTo>
                <a:cubicBezTo>
                  <a:pt x="8023" y="-523"/>
                  <a:pt x="4652" y="2684"/>
                  <a:pt x="3313" y="3488"/>
                </a:cubicBezTo>
                <a:cubicBezTo>
                  <a:pt x="1888" y="4343"/>
                  <a:pt x="5139" y="6472"/>
                  <a:pt x="6626" y="7215"/>
                </a:cubicBezTo>
              </a:path>
            </a:pathLst>
          </a:custGeom>
          <a:noFill/>
          <a:ln cap="flat" cmpd="sng" w="28575">
            <a:solidFill>
              <a:schemeClr val="accent1"/>
            </a:solidFill>
            <a:prstDash val="solid"/>
            <a:round/>
            <a:headEnd len="med" w="med" type="none"/>
            <a:tailEnd len="med" w="med" type="none"/>
          </a:ln>
        </p:spPr>
      </p:sp>
      <p:sp>
        <p:nvSpPr>
          <p:cNvPr id="167" name="Google Shape;167;p20"/>
          <p:cNvSpPr/>
          <p:nvPr/>
        </p:nvSpPr>
        <p:spPr>
          <a:xfrm>
            <a:off x="5116525" y="1499825"/>
            <a:ext cx="1249475" cy="144775"/>
          </a:xfrm>
          <a:custGeom>
            <a:rect b="b" l="l" r="r" t="t"/>
            <a:pathLst>
              <a:path extrusionOk="0" h="5791" w="49979">
                <a:moveTo>
                  <a:pt x="49979" y="1808"/>
                </a:moveTo>
                <a:cubicBezTo>
                  <a:pt x="45032" y="1808"/>
                  <a:pt x="40544" y="6231"/>
                  <a:pt x="35635" y="5618"/>
                </a:cubicBezTo>
                <a:cubicBezTo>
                  <a:pt x="32756" y="5258"/>
                  <a:pt x="31317" y="167"/>
                  <a:pt x="28463" y="687"/>
                </a:cubicBezTo>
                <a:cubicBezTo>
                  <a:pt x="24381" y="1431"/>
                  <a:pt x="21036" y="6709"/>
                  <a:pt x="17033" y="5618"/>
                </a:cubicBezTo>
                <a:cubicBezTo>
                  <a:pt x="13158" y="4562"/>
                  <a:pt x="9541" y="1021"/>
                  <a:pt x="5603" y="1808"/>
                </a:cubicBezTo>
                <a:cubicBezTo>
                  <a:pt x="3701" y="2188"/>
                  <a:pt x="0" y="5317"/>
                  <a:pt x="0" y="3377"/>
                </a:cubicBezTo>
                <a:cubicBezTo>
                  <a:pt x="0" y="2047"/>
                  <a:pt x="1523" y="-700"/>
                  <a:pt x="2466" y="239"/>
                </a:cubicBezTo>
                <a:cubicBezTo>
                  <a:pt x="3391" y="1160"/>
                  <a:pt x="81" y="2807"/>
                  <a:pt x="897" y="3825"/>
                </a:cubicBezTo>
                <a:cubicBezTo>
                  <a:pt x="1769" y="4914"/>
                  <a:pt x="3683" y="4321"/>
                  <a:pt x="4931" y="4946"/>
                </a:cubicBezTo>
              </a:path>
            </a:pathLst>
          </a:custGeom>
          <a:noFill/>
          <a:ln cap="flat" cmpd="sng" w="19050">
            <a:solidFill>
              <a:schemeClr val="accent1"/>
            </a:solidFill>
            <a:prstDash val="solid"/>
            <a:round/>
            <a:headEnd len="med" w="med" type="none"/>
            <a:tailEnd len="med" w="med" type="none"/>
          </a:ln>
        </p:spPr>
      </p:sp>
      <p:sp>
        <p:nvSpPr>
          <p:cNvPr id="168" name="Google Shape;168;p20"/>
          <p:cNvSpPr/>
          <p:nvPr/>
        </p:nvSpPr>
        <p:spPr>
          <a:xfrm>
            <a:off x="4909101" y="567475"/>
            <a:ext cx="1510835" cy="1593853"/>
          </a:xfrm>
          <a:custGeom>
            <a:rect b="b" l="l" r="r" t="t"/>
            <a:pathLst>
              <a:path extrusionOk="0" h="62633" w="56259">
                <a:moveTo>
                  <a:pt x="56259" y="62634"/>
                </a:moveTo>
                <a:cubicBezTo>
                  <a:pt x="51898" y="60558"/>
                  <a:pt x="46065" y="58169"/>
                  <a:pt x="45053" y="53446"/>
                </a:cubicBezTo>
                <a:cubicBezTo>
                  <a:pt x="43284" y="45188"/>
                  <a:pt x="46977" y="36472"/>
                  <a:pt x="45725" y="28120"/>
                </a:cubicBezTo>
                <a:cubicBezTo>
                  <a:pt x="44521" y="20091"/>
                  <a:pt x="41309" y="11155"/>
                  <a:pt x="34743" y="6381"/>
                </a:cubicBezTo>
                <a:cubicBezTo>
                  <a:pt x="28674" y="1969"/>
                  <a:pt x="19294" y="-2274"/>
                  <a:pt x="12780" y="1450"/>
                </a:cubicBezTo>
                <a:cubicBezTo>
                  <a:pt x="7764" y="4318"/>
                  <a:pt x="3602" y="9263"/>
                  <a:pt x="1574" y="14673"/>
                </a:cubicBezTo>
                <a:cubicBezTo>
                  <a:pt x="1096" y="15949"/>
                  <a:pt x="-435" y="18440"/>
                  <a:pt x="902" y="18707"/>
                </a:cubicBezTo>
                <a:cubicBezTo>
                  <a:pt x="1627" y="18852"/>
                  <a:pt x="2060" y="17754"/>
                  <a:pt x="2470" y="17139"/>
                </a:cubicBezTo>
                <a:cubicBezTo>
                  <a:pt x="2954" y="16414"/>
                  <a:pt x="4686" y="14897"/>
                  <a:pt x="3815" y="14897"/>
                </a:cubicBezTo>
                <a:cubicBezTo>
                  <a:pt x="1573" y="14897"/>
                  <a:pt x="1458" y="22729"/>
                  <a:pt x="453" y="20724"/>
                </a:cubicBezTo>
                <a:cubicBezTo>
                  <a:pt x="-754" y="18316"/>
                  <a:pt x="902" y="15349"/>
                  <a:pt x="902" y="12656"/>
                </a:cubicBezTo>
              </a:path>
            </a:pathLst>
          </a:custGeom>
          <a:noFill/>
          <a:ln cap="flat" cmpd="sng" w="28575">
            <a:solidFill>
              <a:srgbClr val="00AEE7"/>
            </a:solidFill>
            <a:prstDash val="solid"/>
            <a:round/>
            <a:headEnd len="med" w="med" type="none"/>
            <a:tailEnd len="med" w="med" type="none"/>
          </a:ln>
        </p:spPr>
      </p:sp>
      <p:pic>
        <p:nvPicPr>
          <p:cNvPr id="169" name="Google Shape;169;p20"/>
          <p:cNvPicPr preferRelativeResize="0"/>
          <p:nvPr/>
        </p:nvPicPr>
        <p:blipFill>
          <a:blip r:embed="rId10">
            <a:alphaModFix/>
          </a:blip>
          <a:stretch>
            <a:fillRect/>
          </a:stretch>
        </p:blipFill>
        <p:spPr>
          <a:xfrm>
            <a:off x="6231071" y="3691325"/>
            <a:ext cx="2853029" cy="1441825"/>
          </a:xfrm>
          <a:prstGeom prst="rect">
            <a:avLst/>
          </a:prstGeom>
          <a:noFill/>
          <a:ln>
            <a:noFill/>
          </a:ln>
        </p:spPr>
      </p:pic>
      <p:sp>
        <p:nvSpPr>
          <p:cNvPr id="170" name="Google Shape;170;p20"/>
          <p:cNvSpPr txBox="1"/>
          <p:nvPr/>
        </p:nvSpPr>
        <p:spPr>
          <a:xfrm>
            <a:off x="8537325" y="1591143"/>
            <a:ext cx="499200" cy="3387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000">
                <a:solidFill>
                  <a:schemeClr val="accent1"/>
                </a:solidFill>
              </a:rPr>
              <a:t>10ms</a:t>
            </a:r>
            <a:endParaRPr sz="1000">
              <a:solidFill>
                <a:schemeClr val="accent1"/>
              </a:solidFill>
            </a:endParaRPr>
          </a:p>
        </p:txBody>
      </p:sp>
      <p:sp>
        <p:nvSpPr>
          <p:cNvPr id="171" name="Google Shape;171;p20"/>
          <p:cNvSpPr/>
          <p:nvPr/>
        </p:nvSpPr>
        <p:spPr>
          <a:xfrm>
            <a:off x="8569700" y="1465598"/>
            <a:ext cx="178204" cy="222522"/>
          </a:xfrm>
          <a:custGeom>
            <a:rect b="b" l="l" r="r" t="t"/>
            <a:pathLst>
              <a:path extrusionOk="0" h="5881" w="5049">
                <a:moveTo>
                  <a:pt x="0" y="1255"/>
                </a:moveTo>
                <a:cubicBezTo>
                  <a:pt x="889" y="277"/>
                  <a:pt x="3051" y="-546"/>
                  <a:pt x="3888" y="477"/>
                </a:cubicBezTo>
                <a:cubicBezTo>
                  <a:pt x="4981" y="1813"/>
                  <a:pt x="5389" y="7163"/>
                  <a:pt x="4666" y="5596"/>
                </a:cubicBezTo>
              </a:path>
            </a:pathLst>
          </a:custGeom>
          <a:noFill/>
          <a:ln cap="flat" cmpd="sng" w="9525">
            <a:solidFill>
              <a:schemeClr val="accent1"/>
            </a:solidFill>
            <a:prstDash val="solid"/>
            <a:round/>
            <a:headEnd len="med" w="med" type="none"/>
            <a:tailEnd len="med" w="med" type="none"/>
          </a:ln>
        </p:spPr>
      </p:sp>
      <p:sp>
        <p:nvSpPr>
          <p:cNvPr id="172" name="Google Shape;172;p20"/>
          <p:cNvSpPr txBox="1"/>
          <p:nvPr/>
        </p:nvSpPr>
        <p:spPr>
          <a:xfrm>
            <a:off x="8383550" y="2171468"/>
            <a:ext cx="499200" cy="3387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000">
                <a:solidFill>
                  <a:schemeClr val="accent1"/>
                </a:solidFill>
              </a:rPr>
              <a:t>25</a:t>
            </a:r>
            <a:r>
              <a:rPr lang="es" sz="1000">
                <a:solidFill>
                  <a:schemeClr val="accent1"/>
                </a:solidFill>
              </a:rPr>
              <a:t>ms</a:t>
            </a:r>
            <a:endParaRPr sz="1000">
              <a:solidFill>
                <a:schemeClr val="accent1"/>
              </a:solidFill>
            </a:endParaRPr>
          </a:p>
        </p:txBody>
      </p:sp>
      <p:sp>
        <p:nvSpPr>
          <p:cNvPr id="173" name="Google Shape;173;p20"/>
          <p:cNvSpPr/>
          <p:nvPr/>
        </p:nvSpPr>
        <p:spPr>
          <a:xfrm>
            <a:off x="8576200" y="2071523"/>
            <a:ext cx="111525" cy="193225"/>
          </a:xfrm>
          <a:custGeom>
            <a:rect b="b" l="l" r="r" t="t"/>
            <a:pathLst>
              <a:path extrusionOk="0" h="7729" w="4461">
                <a:moveTo>
                  <a:pt x="0" y="132"/>
                </a:moveTo>
                <a:cubicBezTo>
                  <a:pt x="2395" y="-1264"/>
                  <a:pt x="6054" y="9037"/>
                  <a:pt x="3693" y="7584"/>
                </a:cubicBezTo>
              </a:path>
            </a:pathLst>
          </a:custGeom>
          <a:noFill/>
          <a:ln cap="flat" cmpd="sng" w="9525">
            <a:solidFill>
              <a:schemeClr val="accent1"/>
            </a:solidFill>
            <a:prstDash val="solid"/>
            <a:round/>
            <a:headEnd len="med" w="med" type="none"/>
            <a:tailEnd len="med" w="med" type="none"/>
          </a:ln>
        </p:spPr>
      </p:sp>
      <p:sp>
        <p:nvSpPr>
          <p:cNvPr id="174" name="Google Shape;174;p20"/>
          <p:cNvSpPr/>
          <p:nvPr/>
        </p:nvSpPr>
        <p:spPr>
          <a:xfrm>
            <a:off x="6800550" y="2363386"/>
            <a:ext cx="678175" cy="32575"/>
          </a:xfrm>
          <a:custGeom>
            <a:rect b="b" l="l" r="r" t="t"/>
            <a:pathLst>
              <a:path extrusionOk="0" h="1303" w="27127">
                <a:moveTo>
                  <a:pt x="0" y="652"/>
                </a:moveTo>
                <a:cubicBezTo>
                  <a:pt x="8772" y="-1543"/>
                  <a:pt x="18355" y="2847"/>
                  <a:pt x="27127" y="652"/>
                </a:cubicBezTo>
              </a:path>
            </a:pathLst>
          </a:custGeom>
          <a:noFill/>
          <a:ln cap="flat" cmpd="sng" w="28575">
            <a:solidFill>
              <a:srgbClr val="FF0000"/>
            </a:solidFill>
            <a:prstDash val="solid"/>
            <a:round/>
            <a:headEnd len="med" w="med" type="none"/>
            <a:tailEnd len="med" w="med" type="none"/>
          </a:ln>
        </p:spPr>
      </p:sp>
      <p:pic>
        <p:nvPicPr>
          <p:cNvPr id="175" name="Google Shape;175;p20"/>
          <p:cNvPicPr preferRelativeResize="0"/>
          <p:nvPr/>
        </p:nvPicPr>
        <p:blipFill>
          <a:blip r:embed="rId11">
            <a:alphaModFix/>
          </a:blip>
          <a:stretch>
            <a:fillRect/>
          </a:stretch>
        </p:blipFill>
        <p:spPr>
          <a:xfrm>
            <a:off x="7940550" y="2698360"/>
            <a:ext cx="1112243" cy="338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Detección estadística de secuencias.</a:t>
            </a:r>
            <a:endParaRPr/>
          </a:p>
        </p:txBody>
      </p:sp>
      <p:pic>
        <p:nvPicPr>
          <p:cNvPr id="181" name="Google Shape;181;p21"/>
          <p:cNvPicPr preferRelativeResize="0"/>
          <p:nvPr/>
        </p:nvPicPr>
        <p:blipFill>
          <a:blip r:embed="rId3">
            <a:alphaModFix/>
          </a:blip>
          <a:stretch>
            <a:fillRect/>
          </a:stretch>
        </p:blipFill>
        <p:spPr>
          <a:xfrm>
            <a:off x="685800" y="1177725"/>
            <a:ext cx="5731465" cy="3820977"/>
          </a:xfrm>
          <a:prstGeom prst="rect">
            <a:avLst/>
          </a:prstGeom>
          <a:noFill/>
          <a:ln>
            <a:noFill/>
          </a:ln>
        </p:spPr>
      </p:pic>
      <p:pic>
        <p:nvPicPr>
          <p:cNvPr id="182" name="Google Shape;182;p21"/>
          <p:cNvPicPr preferRelativeResize="0"/>
          <p:nvPr/>
        </p:nvPicPr>
        <p:blipFill>
          <a:blip r:embed="rId4">
            <a:alphaModFix/>
          </a:blip>
          <a:stretch>
            <a:fillRect/>
          </a:stretch>
        </p:blipFill>
        <p:spPr>
          <a:xfrm>
            <a:off x="3498815" y="3136085"/>
            <a:ext cx="1200150" cy="257175"/>
          </a:xfrm>
          <a:prstGeom prst="rect">
            <a:avLst/>
          </a:prstGeom>
          <a:noFill/>
          <a:ln>
            <a:noFill/>
          </a:ln>
        </p:spPr>
      </p:pic>
      <p:pic>
        <p:nvPicPr>
          <p:cNvPr id="183" name="Google Shape;183;p21"/>
          <p:cNvPicPr preferRelativeResize="0"/>
          <p:nvPr/>
        </p:nvPicPr>
        <p:blipFill>
          <a:blip r:embed="rId5">
            <a:alphaModFix/>
          </a:blip>
          <a:stretch>
            <a:fillRect/>
          </a:stretch>
        </p:blipFill>
        <p:spPr>
          <a:xfrm>
            <a:off x="1053900" y="3114450"/>
            <a:ext cx="1027900" cy="330925"/>
          </a:xfrm>
          <a:prstGeom prst="rect">
            <a:avLst/>
          </a:prstGeom>
          <a:noFill/>
          <a:ln>
            <a:noFill/>
          </a:ln>
        </p:spPr>
      </p:pic>
      <p:cxnSp>
        <p:nvCxnSpPr>
          <p:cNvPr id="184" name="Google Shape;184;p21"/>
          <p:cNvCxnSpPr/>
          <p:nvPr/>
        </p:nvCxnSpPr>
        <p:spPr>
          <a:xfrm>
            <a:off x="2650744" y="3385854"/>
            <a:ext cx="0" cy="649800"/>
          </a:xfrm>
          <a:prstGeom prst="straightConnector1">
            <a:avLst/>
          </a:prstGeom>
          <a:noFill/>
          <a:ln cap="flat" cmpd="sng" w="19050">
            <a:solidFill>
              <a:schemeClr val="dk2"/>
            </a:solidFill>
            <a:prstDash val="dash"/>
            <a:round/>
            <a:headEnd len="med" w="med" type="none"/>
            <a:tailEnd len="med" w="med" type="none"/>
          </a:ln>
        </p:spPr>
      </p:cxnSp>
      <p:pic>
        <p:nvPicPr>
          <p:cNvPr id="185" name="Google Shape;185;p21"/>
          <p:cNvPicPr preferRelativeResize="0"/>
          <p:nvPr/>
        </p:nvPicPr>
        <p:blipFill>
          <a:blip r:embed="rId6">
            <a:alphaModFix/>
          </a:blip>
          <a:stretch>
            <a:fillRect/>
          </a:stretch>
        </p:blipFill>
        <p:spPr>
          <a:xfrm>
            <a:off x="311700" y="2988050"/>
            <a:ext cx="4387275" cy="1215825"/>
          </a:xfrm>
          <a:prstGeom prst="rect">
            <a:avLst/>
          </a:prstGeom>
          <a:noFill/>
          <a:ln>
            <a:noFill/>
          </a:ln>
        </p:spPr>
      </p:pic>
      <p:sp>
        <p:nvSpPr>
          <p:cNvPr id="186" name="Google Shape;186;p21"/>
          <p:cNvSpPr txBox="1"/>
          <p:nvPr/>
        </p:nvSpPr>
        <p:spPr>
          <a:xfrm>
            <a:off x="5639575" y="2339150"/>
            <a:ext cx="34365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2"/>
                </a:solidFill>
              </a:rPr>
              <a:t>Se usa la decisión bayesiana para clasificar formantes.</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s">
                <a:solidFill>
                  <a:schemeClr val="dk2"/>
                </a:solidFill>
              </a:rPr>
              <a:t>Es decir, elijo el </a:t>
            </a:r>
            <a:r>
              <a:rPr lang="es">
                <a:solidFill>
                  <a:schemeClr val="dk2"/>
                </a:solidFill>
              </a:rPr>
              <a:t>máximo</a:t>
            </a:r>
            <a:r>
              <a:rPr lang="es">
                <a:solidFill>
                  <a:schemeClr val="dk2"/>
                </a:solidFill>
              </a:rPr>
              <a:t> a posteriori.</a:t>
            </a:r>
            <a:endParaRPr>
              <a:solidFill>
                <a:schemeClr val="dk2"/>
              </a:solidFill>
            </a:endParaRPr>
          </a:p>
        </p:txBody>
      </p:sp>
      <p:pic>
        <p:nvPicPr>
          <p:cNvPr id="187" name="Google Shape;187;p21"/>
          <p:cNvPicPr preferRelativeResize="0"/>
          <p:nvPr/>
        </p:nvPicPr>
        <p:blipFill>
          <a:blip r:embed="rId7">
            <a:alphaModFix/>
          </a:blip>
          <a:stretch>
            <a:fillRect/>
          </a:stretch>
        </p:blipFill>
        <p:spPr>
          <a:xfrm>
            <a:off x="5590355" y="3430494"/>
            <a:ext cx="3394488" cy="330925"/>
          </a:xfrm>
          <a:prstGeom prst="rect">
            <a:avLst/>
          </a:prstGeom>
          <a:noFill/>
          <a:ln>
            <a:noFill/>
          </a:ln>
        </p:spPr>
      </p:pic>
      <p:sp>
        <p:nvSpPr>
          <p:cNvPr id="188" name="Google Shape;188;p21"/>
          <p:cNvSpPr txBox="1"/>
          <p:nvPr/>
        </p:nvSpPr>
        <p:spPr>
          <a:xfrm>
            <a:off x="4306025" y="1017725"/>
            <a:ext cx="4320300" cy="3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2"/>
                </a:solidFill>
              </a:rPr>
              <a:t>Se modelan los datos con gaussianas.</a:t>
            </a:r>
            <a:endParaRPr>
              <a:solidFill>
                <a:schemeClr val="dk2"/>
              </a:solidFill>
            </a:endParaRPr>
          </a:p>
        </p:txBody>
      </p:sp>
      <p:pic>
        <p:nvPicPr>
          <p:cNvPr id="189" name="Google Shape;189;p21"/>
          <p:cNvPicPr preferRelativeResize="0"/>
          <p:nvPr/>
        </p:nvPicPr>
        <p:blipFill>
          <a:blip r:embed="rId8">
            <a:alphaModFix/>
          </a:blip>
          <a:stretch>
            <a:fillRect/>
          </a:stretch>
        </p:blipFill>
        <p:spPr>
          <a:xfrm>
            <a:off x="5513313" y="1348625"/>
            <a:ext cx="1905725" cy="195025"/>
          </a:xfrm>
          <a:prstGeom prst="rect">
            <a:avLst/>
          </a:prstGeom>
          <a:noFill/>
          <a:ln>
            <a:noFill/>
          </a:ln>
        </p:spPr>
      </p:pic>
      <p:sp>
        <p:nvSpPr>
          <p:cNvPr id="190" name="Google Shape;190;p21"/>
          <p:cNvSpPr txBox="1"/>
          <p:nvPr/>
        </p:nvSpPr>
        <p:spPr>
          <a:xfrm>
            <a:off x="4698975" y="3761425"/>
            <a:ext cx="4387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2"/>
                </a:solidFill>
              </a:rPr>
              <a:t>Se usa el discriminante para la decisión, se deben calcular los </a:t>
            </a:r>
            <a:r>
              <a:rPr lang="es">
                <a:solidFill>
                  <a:schemeClr val="dk2"/>
                </a:solidFill>
              </a:rPr>
              <a:t>parámetros</a:t>
            </a:r>
            <a:r>
              <a:rPr lang="es">
                <a:solidFill>
                  <a:schemeClr val="dk2"/>
                </a:solidFill>
              </a:rPr>
              <a:t> a posteriori.</a:t>
            </a:r>
            <a:endParaRPr>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Detección estadística de secuencias - EM para GMM.</a:t>
            </a:r>
            <a:endParaRPr/>
          </a:p>
        </p:txBody>
      </p:sp>
      <p:pic>
        <p:nvPicPr>
          <p:cNvPr id="196" name="Google Shape;196;p22"/>
          <p:cNvPicPr preferRelativeResize="0"/>
          <p:nvPr/>
        </p:nvPicPr>
        <p:blipFill>
          <a:blip r:embed="rId3">
            <a:alphaModFix/>
          </a:blip>
          <a:stretch>
            <a:fillRect/>
          </a:stretch>
        </p:blipFill>
        <p:spPr>
          <a:xfrm>
            <a:off x="1577325" y="1078675"/>
            <a:ext cx="5731465" cy="3820977"/>
          </a:xfrm>
          <a:prstGeom prst="rect">
            <a:avLst/>
          </a:prstGeom>
          <a:noFill/>
          <a:ln>
            <a:noFill/>
          </a:ln>
        </p:spPr>
      </p:pic>
      <p:pic>
        <p:nvPicPr>
          <p:cNvPr descr="{&quot;backgroundColor&quot;:&quot;#FFFFFF&quot;,&quot;type&quot;:&quot;$$&quot;,&quot;code&quot;:&quot;$$\\Sigma$$&quot;,&quot;id&quot;:&quot;23&quot;,&quot;backgroundColorModified&quot;:false,&quot;font&quot;:{&quot;family&quot;:&quot;Arial&quot;,&quot;color&quot;:&quot;#000000&quot;,&quot;size&quot;:20},&quot;aid&quot;:null,&quot;ts&quot;:1771555860666,&quot;cs&quot;:&quot;OU1ldOwPc/q2ht4TM14rEA==&quot;,&quot;size&quot;:{&quot;width&quot;:19.57481102362204,&quot;height&quot;:21.532817585301853}}" id="197" name="Google Shape;197;p22"/>
          <p:cNvPicPr preferRelativeResize="0"/>
          <p:nvPr/>
        </p:nvPicPr>
        <p:blipFill>
          <a:blip r:embed="rId4">
            <a:alphaModFix/>
          </a:blip>
          <a:stretch>
            <a:fillRect/>
          </a:stretch>
        </p:blipFill>
        <p:spPr>
          <a:xfrm>
            <a:off x="5405378" y="3386997"/>
            <a:ext cx="160625" cy="176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3"/>
          <p:cNvSpPr txBox="1"/>
          <p:nvPr>
            <p:ph type="title"/>
          </p:nvPr>
        </p:nvSpPr>
        <p:spPr>
          <a:xfrm>
            <a:off x="288850" y="391675"/>
            <a:ext cx="4482300" cy="9384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Detección estadística de secuencias - HMM.</a:t>
            </a:r>
            <a:endParaRPr/>
          </a:p>
        </p:txBody>
      </p:sp>
      <p:pic>
        <p:nvPicPr>
          <p:cNvPr id="203" name="Google Shape;203;p23"/>
          <p:cNvPicPr preferRelativeResize="0"/>
          <p:nvPr/>
        </p:nvPicPr>
        <p:blipFill>
          <a:blip r:embed="rId3">
            <a:alphaModFix/>
          </a:blip>
          <a:stretch>
            <a:fillRect/>
          </a:stretch>
        </p:blipFill>
        <p:spPr>
          <a:xfrm>
            <a:off x="288850" y="1254676"/>
            <a:ext cx="4698374" cy="3132250"/>
          </a:xfrm>
          <a:prstGeom prst="rect">
            <a:avLst/>
          </a:prstGeom>
          <a:noFill/>
          <a:ln cap="flat" cmpd="sng" w="7950">
            <a:solidFill>
              <a:schemeClr val="dk1"/>
            </a:solidFill>
            <a:prstDash val="solid"/>
            <a:round/>
            <a:headEnd len="sm" w="sm" type="none"/>
            <a:tailEnd len="sm" w="sm" type="none"/>
          </a:ln>
        </p:spPr>
      </p:pic>
      <p:sp>
        <p:nvSpPr>
          <p:cNvPr id="204" name="Google Shape;204;p23"/>
          <p:cNvSpPr/>
          <p:nvPr/>
        </p:nvSpPr>
        <p:spPr>
          <a:xfrm>
            <a:off x="2831373" y="2822696"/>
            <a:ext cx="426000" cy="400200"/>
          </a:xfrm>
          <a:prstGeom prst="ellipse">
            <a:avLst/>
          </a:prstGeom>
          <a:solidFill>
            <a:schemeClr val="lt1"/>
          </a:solidFill>
          <a:ln cap="flat" cmpd="sng" w="7950">
            <a:solidFill>
              <a:schemeClr val="dk2"/>
            </a:solidFill>
            <a:prstDash val="solid"/>
            <a:round/>
            <a:headEnd len="sm" w="sm" type="none"/>
            <a:tailEnd len="sm" w="sm" type="none"/>
          </a:ln>
        </p:spPr>
        <p:txBody>
          <a:bodyPr anchorCtr="0" anchor="ctr" bIns="76250" lIns="76250" spcFirstLastPara="1" rIns="76250" wrap="square" tIns="76250">
            <a:noAutofit/>
          </a:bodyPr>
          <a:lstStyle/>
          <a:p>
            <a:pPr indent="0" lvl="0" marL="0" rtl="0" algn="ctr">
              <a:spcBef>
                <a:spcPts val="0"/>
              </a:spcBef>
              <a:spcAft>
                <a:spcPts val="0"/>
              </a:spcAft>
              <a:buNone/>
            </a:pPr>
            <a:r>
              <a:t/>
            </a:r>
            <a:endParaRPr sz="1168"/>
          </a:p>
        </p:txBody>
      </p:sp>
      <p:sp>
        <p:nvSpPr>
          <p:cNvPr id="205" name="Google Shape;205;p23"/>
          <p:cNvSpPr/>
          <p:nvPr/>
        </p:nvSpPr>
        <p:spPr>
          <a:xfrm>
            <a:off x="3441577" y="2822696"/>
            <a:ext cx="426000" cy="400200"/>
          </a:xfrm>
          <a:prstGeom prst="ellipse">
            <a:avLst/>
          </a:prstGeom>
          <a:solidFill>
            <a:schemeClr val="lt1"/>
          </a:solidFill>
          <a:ln cap="flat" cmpd="sng" w="7950">
            <a:solidFill>
              <a:schemeClr val="dk2"/>
            </a:solidFill>
            <a:prstDash val="solid"/>
            <a:round/>
            <a:headEnd len="sm" w="sm" type="none"/>
            <a:tailEnd len="sm" w="sm" type="none"/>
          </a:ln>
        </p:spPr>
        <p:txBody>
          <a:bodyPr anchorCtr="0" anchor="ctr" bIns="76250" lIns="76250" spcFirstLastPara="1" rIns="76250" wrap="square" tIns="76250">
            <a:noAutofit/>
          </a:bodyPr>
          <a:lstStyle/>
          <a:p>
            <a:pPr indent="0" lvl="0" marL="0" rtl="0" algn="ctr">
              <a:spcBef>
                <a:spcPts val="0"/>
              </a:spcBef>
              <a:spcAft>
                <a:spcPts val="0"/>
              </a:spcAft>
              <a:buNone/>
            </a:pPr>
            <a:r>
              <a:t/>
            </a:r>
            <a:endParaRPr sz="1168"/>
          </a:p>
        </p:txBody>
      </p:sp>
      <p:sp>
        <p:nvSpPr>
          <p:cNvPr id="206" name="Google Shape;206;p23"/>
          <p:cNvSpPr/>
          <p:nvPr/>
        </p:nvSpPr>
        <p:spPr>
          <a:xfrm>
            <a:off x="4051782" y="2822696"/>
            <a:ext cx="438600" cy="400200"/>
          </a:xfrm>
          <a:prstGeom prst="ellipse">
            <a:avLst/>
          </a:prstGeom>
          <a:solidFill>
            <a:schemeClr val="lt1"/>
          </a:solidFill>
          <a:ln cap="flat" cmpd="sng" w="7950">
            <a:solidFill>
              <a:schemeClr val="dk2"/>
            </a:solidFill>
            <a:prstDash val="solid"/>
            <a:round/>
            <a:headEnd len="sm" w="sm" type="none"/>
            <a:tailEnd len="sm" w="sm" type="none"/>
          </a:ln>
        </p:spPr>
        <p:txBody>
          <a:bodyPr anchorCtr="0" anchor="ctr" bIns="76250" lIns="76250" spcFirstLastPara="1" rIns="76250" wrap="square" tIns="76250">
            <a:noAutofit/>
          </a:bodyPr>
          <a:lstStyle/>
          <a:p>
            <a:pPr indent="0" lvl="0" marL="0" rtl="0" algn="ctr">
              <a:spcBef>
                <a:spcPts val="0"/>
              </a:spcBef>
              <a:spcAft>
                <a:spcPts val="0"/>
              </a:spcAft>
              <a:buNone/>
            </a:pPr>
            <a:r>
              <a:t/>
            </a:r>
            <a:endParaRPr sz="1168"/>
          </a:p>
        </p:txBody>
      </p:sp>
      <p:pic>
        <p:nvPicPr>
          <p:cNvPr descr="{&quot;backgroundColor&quot;:&quot;#FFFFFF&quot;,&quot;backgroundColorModified&quot;:false,&quot;code&quot;:&quot;\\begin{gather*}\n{\\mu_{i}^{0},\\Sigma_{i}^{0},}\\\\\n{\\forall i,A^{0}}\\\\\n{}\t\n\\end{gather*}&quot;,&quot;type&quot;:&quot;gather*&quot;,&quot;font&quot;:{&quot;color&quot;:&quot;#000000&quot;,&quot;size&quot;:9.5,&quot;family&quot;:&quot;Arial&quot;},&quot;id&quot;:&quot;8&quot;,&quot;aid&quot;:null,&quot;ts&quot;:1771293167474,&quot;cs&quot;:&quot;RK8oq/s7q+Jaoy4YAdtg5g==&quot;,&quot;size&quot;:{&quot;width&quot;:42.16666666666674,&quot;height&quot;:37.5}}" id="207" name="Google Shape;207;p23"/>
          <p:cNvPicPr preferRelativeResize="0"/>
          <p:nvPr/>
        </p:nvPicPr>
        <p:blipFill>
          <a:blip r:embed="rId4">
            <a:alphaModFix/>
          </a:blip>
          <a:stretch>
            <a:fillRect/>
          </a:stretch>
        </p:blipFill>
        <p:spPr>
          <a:xfrm>
            <a:off x="2876822" y="2873913"/>
            <a:ext cx="335028" cy="297949"/>
          </a:xfrm>
          <a:prstGeom prst="rect">
            <a:avLst/>
          </a:prstGeom>
          <a:noFill/>
          <a:ln>
            <a:noFill/>
          </a:ln>
        </p:spPr>
      </p:pic>
      <p:pic>
        <p:nvPicPr>
          <p:cNvPr descr="{&quot;backgroundColor&quot;:&quot;#FFFFFF&quot;,&quot;backgroundColorModified&quot;:false,&quot;aid&quot;:null,&quot;id&quot;:&quot;8&quot;,&quot;type&quot;:&quot;gather*&quot;,&quot;font&quot;:{&quot;family&quot;:&quot;Arial&quot;,&quot;color&quot;:&quot;#000000&quot;,&quot;size&quot;:9.5},&quot;code&quot;:&quot;\\begin{gather*}\n{\\mu_{i}^{1},\\Sigma_{i}^{1},}\\\\\n{\\forall i,A^{1}}\\\\\n{}\t\n\\end{gather*}&quot;,&quot;ts&quot;:1771293207060,&quot;cs&quot;:&quot;7Y9rTC+6HKWR8gee7xKcBg==&quot;,&quot;size&quot;:{&quot;width&quot;:42.166666666666664,&quot;height&quot;:37.5}}" id="208" name="Google Shape;208;p23"/>
          <p:cNvPicPr preferRelativeResize="0"/>
          <p:nvPr/>
        </p:nvPicPr>
        <p:blipFill>
          <a:blip r:embed="rId5">
            <a:alphaModFix/>
          </a:blip>
          <a:stretch>
            <a:fillRect/>
          </a:stretch>
        </p:blipFill>
        <p:spPr>
          <a:xfrm>
            <a:off x="3493387" y="2873913"/>
            <a:ext cx="335028" cy="297949"/>
          </a:xfrm>
          <a:prstGeom prst="rect">
            <a:avLst/>
          </a:prstGeom>
          <a:noFill/>
          <a:ln>
            <a:noFill/>
          </a:ln>
        </p:spPr>
      </p:pic>
      <p:pic>
        <p:nvPicPr>
          <p:cNvPr descr="{&quot;font&quot;:{&quot;family&quot;:&quot;Arial&quot;,&quot;color&quot;:&quot;#000000&quot;,&quot;size&quot;:9.5},&quot;aid&quot;:null,&quot;backgroundColorModified&quot;:false,&quot;id&quot;:&quot;8&quot;,&quot;type&quot;:&quot;gather*&quot;,&quot;code&quot;:&quot;\\begin{gather*}\n{\\mu_{i}^{M},\\Sigma_{i}^{M},}\\\\\n{\\forall i,A^{M}}\\\\\n{}\t\n\\end{gather*}&quot;,&quot;backgroundColor&quot;:&quot;#FFFFFF&quot;,&quot;ts&quot;:1771293228969,&quot;cs&quot;:&quot;dVxfzliZQd3HSxJ9Wm8TiA==&quot;,&quot;size&quot;:{&quot;width&quot;:53.666666666666664,&quot;height&quot;:37.83333333333337}}" id="209" name="Google Shape;209;p23"/>
          <p:cNvPicPr preferRelativeResize="0"/>
          <p:nvPr/>
        </p:nvPicPr>
        <p:blipFill>
          <a:blip r:embed="rId6">
            <a:alphaModFix/>
          </a:blip>
          <a:stretch>
            <a:fillRect/>
          </a:stretch>
        </p:blipFill>
        <p:spPr>
          <a:xfrm>
            <a:off x="4065458" y="2904796"/>
            <a:ext cx="426399" cy="300598"/>
          </a:xfrm>
          <a:prstGeom prst="rect">
            <a:avLst/>
          </a:prstGeom>
          <a:noFill/>
          <a:ln>
            <a:noFill/>
          </a:ln>
        </p:spPr>
      </p:pic>
      <p:sp>
        <p:nvSpPr>
          <p:cNvPr id="210" name="Google Shape;210;p23"/>
          <p:cNvSpPr/>
          <p:nvPr/>
        </p:nvSpPr>
        <p:spPr>
          <a:xfrm>
            <a:off x="3015750" y="3367603"/>
            <a:ext cx="241500" cy="139800"/>
          </a:xfrm>
          <a:prstGeom prst="roundRect">
            <a:avLst>
              <a:gd fmla="val 16667" name="adj"/>
            </a:avLst>
          </a:prstGeom>
          <a:solidFill>
            <a:srgbClr val="EFEFEF"/>
          </a:solidFill>
          <a:ln>
            <a:noFill/>
          </a:ln>
        </p:spPr>
        <p:txBody>
          <a:bodyPr anchorCtr="0" anchor="ctr" bIns="76250" lIns="76250" spcFirstLastPara="1" rIns="76250" wrap="square" tIns="76250">
            <a:noAutofit/>
          </a:bodyPr>
          <a:lstStyle/>
          <a:p>
            <a:pPr indent="0" lvl="0" marL="0" rtl="0" algn="ctr">
              <a:spcBef>
                <a:spcPts val="0"/>
              </a:spcBef>
              <a:spcAft>
                <a:spcPts val="0"/>
              </a:spcAft>
              <a:buNone/>
            </a:pPr>
            <a:r>
              <a:t/>
            </a:r>
            <a:endParaRPr sz="1168"/>
          </a:p>
        </p:txBody>
      </p:sp>
      <p:sp>
        <p:nvSpPr>
          <p:cNvPr id="211" name="Google Shape;211;p23"/>
          <p:cNvSpPr txBox="1"/>
          <p:nvPr/>
        </p:nvSpPr>
        <p:spPr>
          <a:xfrm>
            <a:off x="2866547" y="3277326"/>
            <a:ext cx="174600" cy="254400"/>
          </a:xfrm>
          <a:prstGeom prst="rect">
            <a:avLst/>
          </a:prstGeom>
          <a:noFill/>
          <a:ln>
            <a:noFill/>
          </a:ln>
        </p:spPr>
        <p:txBody>
          <a:bodyPr anchorCtr="0" anchor="t" bIns="76250" lIns="76250" spcFirstLastPara="1" rIns="76250" wrap="square" tIns="76250">
            <a:noAutofit/>
          </a:bodyPr>
          <a:lstStyle/>
          <a:p>
            <a:pPr indent="0" lvl="0" marL="0" rtl="0" algn="l">
              <a:spcBef>
                <a:spcPts val="0"/>
              </a:spcBef>
              <a:spcAft>
                <a:spcPts val="0"/>
              </a:spcAft>
              <a:buNone/>
            </a:pPr>
            <a:r>
              <a:rPr lang="es" sz="1084">
                <a:solidFill>
                  <a:schemeClr val="dk2"/>
                </a:solidFill>
              </a:rPr>
              <a:t>i</a:t>
            </a:r>
            <a:endParaRPr sz="1084">
              <a:solidFill>
                <a:schemeClr val="dk2"/>
              </a:solidFill>
            </a:endParaRPr>
          </a:p>
        </p:txBody>
      </p:sp>
      <p:pic>
        <p:nvPicPr>
          <p:cNvPr id="212" name="Google Shape;212;p23"/>
          <p:cNvPicPr preferRelativeResize="0"/>
          <p:nvPr/>
        </p:nvPicPr>
        <p:blipFill>
          <a:blip r:embed="rId7">
            <a:alphaModFix/>
          </a:blip>
          <a:stretch>
            <a:fillRect/>
          </a:stretch>
        </p:blipFill>
        <p:spPr>
          <a:xfrm>
            <a:off x="4987225" y="2190200"/>
            <a:ext cx="4156774" cy="2487075"/>
          </a:xfrm>
          <a:prstGeom prst="rect">
            <a:avLst/>
          </a:prstGeom>
          <a:noFill/>
          <a:ln>
            <a:noFill/>
          </a:ln>
        </p:spPr>
      </p:pic>
      <p:pic>
        <p:nvPicPr>
          <p:cNvPr id="213" name="Google Shape;213;p23"/>
          <p:cNvPicPr preferRelativeResize="0"/>
          <p:nvPr/>
        </p:nvPicPr>
        <p:blipFill>
          <a:blip r:embed="rId8">
            <a:alphaModFix/>
          </a:blip>
          <a:stretch>
            <a:fillRect/>
          </a:stretch>
        </p:blipFill>
        <p:spPr>
          <a:xfrm>
            <a:off x="288850" y="4232275"/>
            <a:ext cx="4698376" cy="780950"/>
          </a:xfrm>
          <a:prstGeom prst="rect">
            <a:avLst/>
          </a:prstGeom>
          <a:noFill/>
          <a:ln>
            <a:noFill/>
          </a:ln>
        </p:spPr>
      </p:pic>
      <p:sp>
        <p:nvSpPr>
          <p:cNvPr id="214" name="Google Shape;214;p23"/>
          <p:cNvSpPr txBox="1"/>
          <p:nvPr/>
        </p:nvSpPr>
        <p:spPr>
          <a:xfrm>
            <a:off x="5264775" y="796275"/>
            <a:ext cx="15510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300">
                <a:solidFill>
                  <a:schemeClr val="dk2"/>
                </a:solidFill>
              </a:rPr>
              <a:t>Hipótesis</a:t>
            </a:r>
            <a:r>
              <a:rPr b="1" lang="es" sz="1300">
                <a:solidFill>
                  <a:schemeClr val="dk2"/>
                </a:solidFill>
              </a:rPr>
              <a:t> 1 :</a:t>
            </a:r>
            <a:endParaRPr b="1" sz="1300">
              <a:solidFill>
                <a:schemeClr val="dk2"/>
              </a:solidFill>
            </a:endParaRPr>
          </a:p>
        </p:txBody>
      </p:sp>
      <p:sp>
        <p:nvSpPr>
          <p:cNvPr id="215" name="Google Shape;215;p23"/>
          <p:cNvSpPr txBox="1"/>
          <p:nvPr/>
        </p:nvSpPr>
        <p:spPr>
          <a:xfrm>
            <a:off x="5277150" y="1444463"/>
            <a:ext cx="15510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300">
                <a:solidFill>
                  <a:schemeClr val="dk2"/>
                </a:solidFill>
              </a:rPr>
              <a:t>Hipótesis 2 :</a:t>
            </a:r>
            <a:endParaRPr b="1" sz="1300">
              <a:solidFill>
                <a:schemeClr val="dk2"/>
              </a:solidFill>
            </a:endParaRPr>
          </a:p>
        </p:txBody>
      </p:sp>
      <p:pic>
        <p:nvPicPr>
          <p:cNvPr descr="{&quot;type&quot;:&quot;$$&quot;,&quot;id&quot;:&quot;9&quot;,&quot;backgroundColor&quot;:&quot;#FFFFFF&quot;,&quot;font&quot;:{&quot;family&quot;:&quot;Arial&quot;,&quot;color&quot;:&quot;#000000&quot;,&quot;size&quot;:16.5},&quot;backgroundColorModified&quot;:false,&quot;code&quot;:&quot;$$P\\left(\\giventhat{Z_{t}}{Z_{t-1},...,Z_{1}}\\right)=P\\left(\\giventhat{Z_{t}}{Z_{t-1}}\\right)$$&quot;,&quot;aid&quot;:null,&quot;ts&quot;:1771511656152,&quot;cs&quot;:&quot;FAh/w/bFvYA6IahS5VWaUg==&quot;,&quot;size&quot;:{&quot;width&quot;:397.46783464566926,&quot;height&quot;:26.70865406824146}}" id="216" name="Google Shape;216;p23"/>
          <p:cNvPicPr preferRelativeResize="0"/>
          <p:nvPr/>
        </p:nvPicPr>
        <p:blipFill>
          <a:blip r:embed="rId9">
            <a:alphaModFix/>
          </a:blip>
          <a:stretch>
            <a:fillRect/>
          </a:stretch>
        </p:blipFill>
        <p:spPr>
          <a:xfrm>
            <a:off x="5329000" y="1153575"/>
            <a:ext cx="3785881" cy="254400"/>
          </a:xfrm>
          <a:prstGeom prst="rect">
            <a:avLst/>
          </a:prstGeom>
          <a:noFill/>
          <a:ln>
            <a:noFill/>
          </a:ln>
        </p:spPr>
      </p:pic>
      <p:pic>
        <p:nvPicPr>
          <p:cNvPr descr="{&quot;backgroundColor&quot;:&quot;#FFFFFF&quot;,&quot;backgroundColorModified&quot;:false,&quot;id&quot;:&quot;9&quot;,&quot;aid&quot;:null,&quot;font&quot;:{&quot;size&quot;:15.5,&quot;color&quot;:&quot;#000000&quot;,&quot;family&quot;:&quot;Arial&quot;},&quot;code&quot;:&quot;$$P\\left(\\giventhat{X_{t}}{\\mathbb{X}^{t-1},\\mathbb{Z}^{t}}\\right)=P\\left(\\giventhat{X_{t}}{Z_{t}}\\right)$$&quot;,&quot;type&quot;:&quot;$$&quot;,&quot;ts&quot;:1771511984112,&quot;cs&quot;:&quot;qk9w3qwrPutvORZLgIf8kQ==&quot;,&quot;size&quot;:{&quot;width&quot;:330,&quot;height&quot;:32.75}}" id="217" name="Google Shape;217;p23"/>
          <p:cNvPicPr preferRelativeResize="0"/>
          <p:nvPr/>
        </p:nvPicPr>
        <p:blipFill rotWithShape="1">
          <a:blip r:embed="rId10">
            <a:alphaModFix/>
          </a:blip>
          <a:srcRect b="0" l="0" r="0" t="0"/>
          <a:stretch/>
        </p:blipFill>
        <p:spPr>
          <a:xfrm>
            <a:off x="5363140" y="1759700"/>
            <a:ext cx="3143250" cy="31194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4"/>
          <p:cNvSpPr txBox="1"/>
          <p:nvPr>
            <p:ph type="title"/>
          </p:nvPr>
        </p:nvSpPr>
        <p:spPr>
          <a:xfrm>
            <a:off x="259845" y="445025"/>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Detección estadística de secuencias - 3 problemas.</a:t>
            </a:r>
            <a:endParaRPr/>
          </a:p>
        </p:txBody>
      </p:sp>
      <p:pic>
        <p:nvPicPr>
          <p:cNvPr id="223" name="Google Shape;223;p24"/>
          <p:cNvPicPr preferRelativeResize="0"/>
          <p:nvPr/>
        </p:nvPicPr>
        <p:blipFill>
          <a:blip r:embed="rId3">
            <a:alphaModFix/>
          </a:blip>
          <a:stretch>
            <a:fillRect/>
          </a:stretch>
        </p:blipFill>
        <p:spPr>
          <a:xfrm>
            <a:off x="1332038" y="1107900"/>
            <a:ext cx="6479936" cy="3820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5"/>
          <p:cNvSpPr txBox="1"/>
          <p:nvPr>
            <p:ph type="title"/>
          </p:nvPr>
        </p:nvSpPr>
        <p:spPr>
          <a:xfrm>
            <a:off x="270215" y="382805"/>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Detección estadística de secuencias - 1°.</a:t>
            </a:r>
            <a:endParaRPr/>
          </a:p>
        </p:txBody>
      </p:sp>
      <p:sp>
        <p:nvSpPr>
          <p:cNvPr id="229" name="Google Shape;229;p25"/>
          <p:cNvSpPr txBox="1"/>
          <p:nvPr/>
        </p:nvSpPr>
        <p:spPr>
          <a:xfrm>
            <a:off x="571375" y="966550"/>
            <a:ext cx="7746300" cy="10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Dada una secuencia de observaciones 						y un modelo 				     determinar la probabilidad de que dicho modelo emita esa secuencia, es decir calcular  </a:t>
            </a:r>
            <a:endParaRPr sz="1800">
              <a:solidFill>
                <a:schemeClr val="dk2"/>
              </a:solidFill>
            </a:endParaRPr>
          </a:p>
        </p:txBody>
      </p:sp>
      <p:pic>
        <p:nvPicPr>
          <p:cNvPr descr="{&quot;font&quot;:{&quot;size&quot;:18,&quot;family&quot;:&quot;Arial&quot;,&quot;color&quot;:&quot;#595959&quot;},&quot;type&quot;:&quot;$$&quot;,&quot;backgroundColor&quot;:&quot;#FFFFFF&quot;,&quot;backgroundColorModified&quot;:false,&quot;id&quot;:&quot;10&quot;,&quot;aid&quot;:null,&quot;code&quot;:&quot;$$\\mathbb{X}=\\,\\left\\{X_{1},\\,...,X_{T}\\right\\}$$&quot;,&quot;ts&quot;:1771516177848,&quot;cs&quot;:&quot;7Cu7QZPL1g77NJzW4QPbFA==&quot;,&quot;size&quot;:{&quot;width&quot;:231,&quot;height&quot;:28.399999999999988}}" id="230" name="Google Shape;230;p25"/>
          <p:cNvPicPr preferRelativeResize="0"/>
          <p:nvPr/>
        </p:nvPicPr>
        <p:blipFill>
          <a:blip r:embed="rId4">
            <a:alphaModFix/>
          </a:blip>
          <a:stretch>
            <a:fillRect/>
          </a:stretch>
        </p:blipFill>
        <p:spPr>
          <a:xfrm>
            <a:off x="4706800" y="1069800"/>
            <a:ext cx="2200275" cy="270510"/>
          </a:xfrm>
          <a:prstGeom prst="rect">
            <a:avLst/>
          </a:prstGeom>
          <a:noFill/>
          <a:ln>
            <a:noFill/>
          </a:ln>
        </p:spPr>
      </p:pic>
      <p:pic>
        <p:nvPicPr>
          <p:cNvPr descr="{&quot;backgroundColor&quot;:&quot;#FFFFFF&quot;,&quot;id&quot;:&quot;11&quot;,&quot;font&quot;:{&quot;size&quot;:18,&quot;color&quot;:&quot;#595959&quot;,&quot;family&quot;:&quot;Arial&quot;},&quot;code&quot;:&quot;$$\\lambda\\,=\\,\\left\\{A,B,\\Pi\\right\\}$$&quot;,&quot;type&quot;:&quot;$$&quot;,&quot;backgroundColorModified&quot;:false,&quot;aid&quot;:null,&quot;ts&quot;:1771516235234,&quot;cs&quot;:&quot;ysn3lsBw90GZp1n8CW+BdA==&quot;,&quot;size&quot;:{&quot;width&quot;:177,&quot;height&quot;:28.333333333333332}}" id="231" name="Google Shape;231;p25"/>
          <p:cNvPicPr preferRelativeResize="0"/>
          <p:nvPr/>
        </p:nvPicPr>
        <p:blipFill>
          <a:blip r:embed="rId5">
            <a:alphaModFix/>
          </a:blip>
          <a:stretch>
            <a:fillRect/>
          </a:stretch>
        </p:blipFill>
        <p:spPr>
          <a:xfrm>
            <a:off x="1481750" y="1339813"/>
            <a:ext cx="1685925" cy="269875"/>
          </a:xfrm>
          <a:prstGeom prst="rect">
            <a:avLst/>
          </a:prstGeom>
          <a:noFill/>
          <a:ln>
            <a:noFill/>
          </a:ln>
        </p:spPr>
      </p:pic>
      <p:pic>
        <p:nvPicPr>
          <p:cNvPr descr="{&quot;type&quot;:&quot;$$&quot;,&quot;backgroundColor&quot;:&quot;#FFFFFF&quot;,&quot;id&quot;:&quot;12&quot;,&quot;aid&quot;:null,&quot;font&quot;:{&quot;family&quot;:&quot;Arial&quot;,&quot;color&quot;:&quot;#595959&quot;,&quot;size&quot;:18},&quot;backgroundColorModified&quot;:false,&quot;code&quot;:&quot;$$P\\left(\\giventhat{\\mathbb{X}}{\\lambda}\\right)$$&quot;,&quot;ts&quot;:1771516322928,&quot;cs&quot;:&quot;a9xg9BueCjvnPxREESwNTw==&quot;,&quot;size&quot;:{&quot;width&quot;:98.16666666666667,&quot;height&quot;:28.333333333333332}}" id="232" name="Google Shape;232;p25"/>
          <p:cNvPicPr preferRelativeResize="0"/>
          <p:nvPr/>
        </p:nvPicPr>
        <p:blipFill>
          <a:blip r:embed="rId6">
            <a:alphaModFix/>
          </a:blip>
          <a:stretch>
            <a:fillRect/>
          </a:stretch>
        </p:blipFill>
        <p:spPr>
          <a:xfrm>
            <a:off x="4686071" y="1609700"/>
            <a:ext cx="935038" cy="269875"/>
          </a:xfrm>
          <a:prstGeom prst="rect">
            <a:avLst/>
          </a:prstGeom>
          <a:noFill/>
          <a:ln>
            <a:noFill/>
          </a:ln>
        </p:spPr>
      </p:pic>
      <p:pic>
        <p:nvPicPr>
          <p:cNvPr descr="{&quot;id&quot;:&quot;13&quot;,&quot;aid&quot;:null,&quot;code&quot;:&quot;$$P\\left(\\mathbb{X}\\right)\\,=\\,\\sum_{i_{1}=1}^{N}...\\sum_{i_{T}=1}^{N}\\prod_{t=1}^{T}P\\left(\\giventhat{X_{t}}{Z_{t}=i_{t}}\\right)P\\left(\\giventhat{Z_{t}=i_{t}}{Z_{t-1}}=i_{t-1}\\right)$$&quot;,&quot;backgroundColor&quot;:&quot;#FFFFFF&quot;,&quot;type&quot;:&quot;$$&quot;,&quot;backgroundColorModified&quot;:false,&quot;font&quot;:{&quot;color&quot;:&quot;#000000&quot;,&quot;family&quot;:&quot;Arial&quot;,&quot;size&quot;:17.5},&quot;ts&quot;:1771516552709,&quot;cs&quot;:&quot;fMptFmWlP889uKSbJwOBfQ==&quot;,&quot;size&quot;:{&quot;width&quot;:732.9291648293962,&quot;height&quot;:78.23097112860893}}" id="233" name="Google Shape;233;p25"/>
          <p:cNvPicPr preferRelativeResize="0"/>
          <p:nvPr/>
        </p:nvPicPr>
        <p:blipFill>
          <a:blip r:embed="rId7">
            <a:alphaModFix/>
          </a:blip>
          <a:stretch>
            <a:fillRect/>
          </a:stretch>
        </p:blipFill>
        <p:spPr>
          <a:xfrm>
            <a:off x="623215" y="2107495"/>
            <a:ext cx="6981150" cy="745150"/>
          </a:xfrm>
          <a:prstGeom prst="rect">
            <a:avLst/>
          </a:prstGeom>
          <a:noFill/>
          <a:ln>
            <a:noFill/>
          </a:ln>
        </p:spPr>
      </p:pic>
      <p:pic>
        <p:nvPicPr>
          <p:cNvPr descr="{&quot;type&quot;:&quot;$$&quot;,&quot;aid&quot;:null,&quot;font&quot;:{&quot;size&quot;:18,&quot;family&quot;:&quot;Arial&quot;,&quot;color&quot;:&quot;#000000&quot;},&quot;backgroundColor&quot;:&quot;#FFFFFF&quot;,&quot;backgroundColorModified&quot;:false,&quot;code&quot;:&quot;$$O\\left(N^{T}\\right)$$&quot;,&quot;id&quot;:&quot;14&quot;,&quot;ts&quot;:1771516640638,&quot;cs&quot;:&quot;vPM4FuQhL2GsHkIs4DUL/Q==&quot;,&quot;size&quot;:{&quot;width&quot;:89.16666666666667,&quot;height&quot;:35}}" id="234" name="Google Shape;234;p25"/>
          <p:cNvPicPr preferRelativeResize="0"/>
          <p:nvPr/>
        </p:nvPicPr>
        <p:blipFill>
          <a:blip r:embed="rId8">
            <a:alphaModFix/>
          </a:blip>
          <a:stretch>
            <a:fillRect/>
          </a:stretch>
        </p:blipFill>
        <p:spPr>
          <a:xfrm>
            <a:off x="8097800" y="2302130"/>
            <a:ext cx="849313" cy="333375"/>
          </a:xfrm>
          <a:prstGeom prst="rect">
            <a:avLst/>
          </a:prstGeom>
          <a:noFill/>
          <a:ln>
            <a:noFill/>
          </a:ln>
        </p:spPr>
      </p:pic>
      <p:sp>
        <p:nvSpPr>
          <p:cNvPr id="235" name="Google Shape;235;p25"/>
          <p:cNvSpPr txBox="1"/>
          <p:nvPr/>
        </p:nvSpPr>
        <p:spPr>
          <a:xfrm>
            <a:off x="571375" y="2978331"/>
            <a:ext cx="6159600" cy="4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Se usa la recursión </a:t>
            </a:r>
            <a:r>
              <a:rPr lang="es" sz="1800">
                <a:solidFill>
                  <a:schemeClr val="dk2"/>
                </a:solidFill>
              </a:rPr>
              <a:t>forward</a:t>
            </a:r>
            <a:r>
              <a:rPr lang="es" sz="1800">
                <a:solidFill>
                  <a:schemeClr val="dk2"/>
                </a:solidFill>
              </a:rPr>
              <a:t> para un </a:t>
            </a:r>
            <a:r>
              <a:rPr lang="es" sz="1800">
                <a:solidFill>
                  <a:schemeClr val="dk2"/>
                </a:solidFill>
              </a:rPr>
              <a:t>cálculo</a:t>
            </a:r>
            <a:r>
              <a:rPr lang="es" sz="1800">
                <a:solidFill>
                  <a:schemeClr val="dk2"/>
                </a:solidFill>
              </a:rPr>
              <a:t> </a:t>
            </a:r>
            <a:r>
              <a:rPr lang="es" sz="1800">
                <a:solidFill>
                  <a:schemeClr val="dk2"/>
                </a:solidFill>
              </a:rPr>
              <a:t>más</a:t>
            </a:r>
            <a:r>
              <a:rPr lang="es" sz="1800">
                <a:solidFill>
                  <a:schemeClr val="dk2"/>
                </a:solidFill>
              </a:rPr>
              <a:t> eficiente.</a:t>
            </a:r>
            <a:endParaRPr sz="1800">
              <a:solidFill>
                <a:schemeClr val="dk2"/>
              </a:solidFill>
            </a:endParaRPr>
          </a:p>
        </p:txBody>
      </p:sp>
      <p:pic>
        <p:nvPicPr>
          <p:cNvPr descr="{&quot;backgroundColorModified&quot;:false,&quot;code&quot;:&quot;$$\\alpha_{t}\\left(j\\right)\\eqat{\\Delta}\\,P\\left(X_{1},...,X_{t},Z_{t}=j\\right)$$&quot;,&quot;backgroundColor&quot;:&quot;#FFFFFF&quot;,&quot;type&quot;:&quot;$$&quot;,&quot;id&quot;:&quot;15&quot;,&quot;font&quot;:{&quot;size&quot;:14,&quot;family&quot;:&quot;Arial&quot;,&quot;color&quot;:&quot;#000000&quot;},&quot;aid&quot;:null,&quot;ts&quot;:1771518262339,&quot;cs&quot;:&quot;tWQjdQ07A5DEmthUtvkwDA==&quot;,&quot;size&quot;:{&quot;width&quot;:244.0341690288714,&quot;height&quot;:34.99999343832024}}" id="236" name="Google Shape;236;p25"/>
          <p:cNvPicPr preferRelativeResize="0"/>
          <p:nvPr/>
        </p:nvPicPr>
        <p:blipFill>
          <a:blip r:embed="rId9">
            <a:alphaModFix/>
          </a:blip>
          <a:stretch>
            <a:fillRect/>
          </a:stretch>
        </p:blipFill>
        <p:spPr>
          <a:xfrm>
            <a:off x="6573500" y="2995801"/>
            <a:ext cx="2324425" cy="333375"/>
          </a:xfrm>
          <a:prstGeom prst="rect">
            <a:avLst/>
          </a:prstGeom>
          <a:noFill/>
          <a:ln>
            <a:noFill/>
          </a:ln>
        </p:spPr>
      </p:pic>
      <p:pic>
        <p:nvPicPr>
          <p:cNvPr descr="{&quot;backgroundColorModified&quot;:false,&quot;font&quot;:{&quot;color&quot;:&quot;#000000&quot;,&quot;family&quot;:&quot;Arial&quot;,&quot;size&quot;:17.5},&quot;aid&quot;:null,&quot;code&quot;:&quot;$$\\alpha_{T}\\left(j\\right)=P\\left(X_{1},...,X_{T},Z_{T}=j\\right)$$&quot;,&quot;id&quot;:&quot;15&quot;,&quot;type&quot;:&quot;$$&quot;,&quot;backgroundColor&quot;:&quot;#FFFFFF&quot;,&quot;ts&quot;:1771517847091,&quot;cs&quot;:&quot;WcrfFgevHJTkTz/ljKSTbg==&quot;,&quot;size&quot;:{&quot;width&quot;:308.7322128608924,&quot;height&quot;:28.398942257217854}}" id="237" name="Google Shape;237;p25"/>
          <p:cNvPicPr preferRelativeResize="0"/>
          <p:nvPr/>
        </p:nvPicPr>
        <p:blipFill>
          <a:blip r:embed="rId10">
            <a:alphaModFix/>
          </a:blip>
          <a:stretch>
            <a:fillRect/>
          </a:stretch>
        </p:blipFill>
        <p:spPr>
          <a:xfrm>
            <a:off x="642250" y="3532718"/>
            <a:ext cx="2940674" cy="270500"/>
          </a:xfrm>
          <a:prstGeom prst="rect">
            <a:avLst/>
          </a:prstGeom>
          <a:noFill/>
          <a:ln>
            <a:noFill/>
          </a:ln>
        </p:spPr>
      </p:pic>
      <p:pic>
        <p:nvPicPr>
          <p:cNvPr descr="{&quot;aid&quot;:null,&quot;type&quot;:&quot;$$&quot;,&quot;code&quot;:&quot;$$P\\left(\\mathbb{X}\\right)\\,=\\,\\sum_{j=1}^{N}P\\left(X_{1},...,X_{T},Z_{T}=j\\right)$$&quot;,&quot;backgroundColorModified&quot;:false,&quot;id&quot;:&quot;16&quot;,&quot;backgroundColor&quot;:&quot;#FFFFFF&quot;,&quot;font&quot;:{&quot;family&quot;:&quot;Arial&quot;,&quot;color&quot;:&quot;#000000&quot;,&quot;size&quot;:14},&quot;ts&quot;:1771517545927,&quot;cs&quot;:&quot;+vnoEjpZ/uN9yS3XLrEEng==&quot;,&quot;size&quot;:{&quot;width&quot;:342.25,&quot;height&quot;:63}}" id="238" name="Google Shape;238;p25"/>
          <p:cNvPicPr preferRelativeResize="0"/>
          <p:nvPr/>
        </p:nvPicPr>
        <p:blipFill>
          <a:blip r:embed="rId11">
            <a:alphaModFix/>
          </a:blip>
          <a:stretch>
            <a:fillRect/>
          </a:stretch>
        </p:blipFill>
        <p:spPr>
          <a:xfrm>
            <a:off x="3849560" y="3381042"/>
            <a:ext cx="3259931" cy="600075"/>
          </a:xfrm>
          <a:prstGeom prst="rect">
            <a:avLst/>
          </a:prstGeom>
          <a:noFill/>
          <a:ln>
            <a:noFill/>
          </a:ln>
        </p:spPr>
      </p:pic>
      <p:pic>
        <p:nvPicPr>
          <p:cNvPr descr="{&quot;id&quot;:&quot;16&quot;,&quot;backgroundColorModified&quot;:false,&quot;font&quot;:{&quot;family&quot;:&quot;Arial&quot;,&quot;color&quot;:&quot;#000000&quot;,&quot;size&quot;:14},&quot;type&quot;:&quot;$$&quot;,&quot;aid&quot;:null,&quot;backgroundColor&quot;:&quot;#FFFFFF&quot;,&quot;code&quot;:&quot;$$P\\left(\\mathbb{X}\\right)\\,=\\,\\sum_{j=1}^{N}\\alpha_{T}$$&quot;,&quot;ts&quot;:1771517483823,&quot;cs&quot;:&quot;eRYUmuN/Y4ayobobbH7jMQ==&quot;,&quot;size&quot;:{&quot;width&quot;:149.66666666666666,&quot;height&quot;:62.833333333333336}}" id="239" name="Google Shape;239;p25"/>
          <p:cNvPicPr preferRelativeResize="0"/>
          <p:nvPr/>
        </p:nvPicPr>
        <p:blipFill>
          <a:blip r:embed="rId12">
            <a:alphaModFix/>
          </a:blip>
          <a:stretch>
            <a:fillRect/>
          </a:stretch>
        </p:blipFill>
        <p:spPr>
          <a:xfrm>
            <a:off x="7406730" y="3368721"/>
            <a:ext cx="1425575" cy="598488"/>
          </a:xfrm>
          <a:prstGeom prst="rect">
            <a:avLst/>
          </a:prstGeom>
          <a:noFill/>
          <a:ln>
            <a:noFill/>
          </a:ln>
        </p:spPr>
      </p:pic>
      <p:sp>
        <p:nvSpPr>
          <p:cNvPr id="240" name="Google Shape;240;p25"/>
          <p:cNvSpPr/>
          <p:nvPr/>
        </p:nvSpPr>
        <p:spPr>
          <a:xfrm>
            <a:off x="561025" y="3413921"/>
            <a:ext cx="3121500" cy="5985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p25"/>
          <p:cNvSpPr/>
          <p:nvPr/>
        </p:nvSpPr>
        <p:spPr>
          <a:xfrm>
            <a:off x="3785575" y="3360290"/>
            <a:ext cx="3418500" cy="6420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2" name="Google Shape;242;p25"/>
          <p:cNvSpPr/>
          <p:nvPr/>
        </p:nvSpPr>
        <p:spPr>
          <a:xfrm>
            <a:off x="7307125" y="3349921"/>
            <a:ext cx="1761600" cy="6522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quot;code&quot;:&quot;$$P\\left(\\mathbb{X}\\right)\\,=\\,\\alpha_{T+1}\\left(N\\right)\\,=\\,\\sum_{i=2}^{N-1}\\alpha_{T}\\left(i\\right)a_{iN}$$&quot;,&quot;id&quot;:&quot;16&quot;,&quot;type&quot;:&quot;$$&quot;,&quot;backgroundColor&quot;:&quot;#FFFFFF&quot;,&quot;aid&quot;:null,&quot;backgroundColorModified&quot;:false,&quot;font&quot;:{&quot;size&quot;:14,&quot;color&quot;:&quot;#000000&quot;,&quot;family&quot;:&quot;Arial&quot;},&quot;ts&quot;:1771518029684,&quot;cs&quot;:&quot;pXD3R6rxBXHkZAqSCQY1tQ==&quot;,&quot;size&quot;:{&quot;width&quot;:335.75,&quot;height&quot;:60}}" id="243" name="Google Shape;243;p25"/>
          <p:cNvPicPr preferRelativeResize="0"/>
          <p:nvPr/>
        </p:nvPicPr>
        <p:blipFill>
          <a:blip r:embed="rId13">
            <a:alphaModFix/>
          </a:blip>
          <a:stretch>
            <a:fillRect/>
          </a:stretch>
        </p:blipFill>
        <p:spPr>
          <a:xfrm>
            <a:off x="3167680" y="4267786"/>
            <a:ext cx="3198019" cy="571500"/>
          </a:xfrm>
          <a:prstGeom prst="rect">
            <a:avLst/>
          </a:prstGeom>
          <a:noFill/>
          <a:ln>
            <a:noFill/>
          </a:ln>
        </p:spPr>
      </p:pic>
      <p:sp>
        <p:nvSpPr>
          <p:cNvPr id="244" name="Google Shape;244;p25"/>
          <p:cNvSpPr/>
          <p:nvPr/>
        </p:nvSpPr>
        <p:spPr>
          <a:xfrm>
            <a:off x="2904625" y="4174830"/>
            <a:ext cx="39198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5" name="Google Shape;245;p25"/>
          <p:cNvSpPr txBox="1"/>
          <p:nvPr/>
        </p:nvSpPr>
        <p:spPr>
          <a:xfrm>
            <a:off x="726950" y="4316580"/>
            <a:ext cx="1876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Usando Bakis</a:t>
            </a:r>
            <a:endParaRPr sz="1800">
              <a:solidFill>
                <a:schemeClr val="dk2"/>
              </a:solidFill>
            </a:endParaRPr>
          </a:p>
        </p:txBody>
      </p:sp>
      <p:pic>
        <p:nvPicPr>
          <p:cNvPr descr="{&quot;aid&quot;:null,&quot;backgroundColorModified&quot;:false,&quot;font&quot;:{&quot;family&quot;:&quot;Arial&quot;,&quot;size&quot;:18,&quot;color&quot;:&quot;#000000&quot;},&quot;type&quot;:&quot;$$&quot;,&quot;id&quot;:&quot;14&quot;,&quot;code&quot;:&quot;$$O\\left(NT\\right)$$&quot;,&quot;backgroundColor&quot;:&quot;#FFFFFF&quot;,&quot;ts&quot;:1771518638326,&quot;cs&quot;:&quot;+3DZqldV/xQIny3jR10YoQ==&quot;,&quot;size&quot;:{&quot;width&quot;:89,&quot;height&quot;:28.333333333333332}}" id="246" name="Google Shape;246;p25"/>
          <p:cNvPicPr preferRelativeResize="0"/>
          <p:nvPr/>
        </p:nvPicPr>
        <p:blipFill>
          <a:blip r:embed="rId14">
            <a:alphaModFix/>
          </a:blip>
          <a:stretch>
            <a:fillRect/>
          </a:stretch>
        </p:blipFill>
        <p:spPr>
          <a:xfrm>
            <a:off x="8098600" y="4342027"/>
            <a:ext cx="847725" cy="2698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26"/>
          <p:cNvPicPr preferRelativeResize="0"/>
          <p:nvPr/>
        </p:nvPicPr>
        <p:blipFill>
          <a:blip r:embed="rId3">
            <a:alphaModFix/>
          </a:blip>
          <a:stretch>
            <a:fillRect/>
          </a:stretch>
        </p:blipFill>
        <p:spPr>
          <a:xfrm>
            <a:off x="1230886" y="1017725"/>
            <a:ext cx="5423533" cy="3820975"/>
          </a:xfrm>
          <a:prstGeom prst="rect">
            <a:avLst/>
          </a:prstGeom>
          <a:noFill/>
          <a:ln>
            <a:noFill/>
          </a:ln>
        </p:spPr>
      </p:pic>
      <p:pic>
        <p:nvPicPr>
          <p:cNvPr descr="{&quot;backgroundColorModified&quot;:false,&quot;code&quot;:&quot;$$\\alpha_{t}\\left(j\\right)\\eqat{\\Delta}\\,P\\left(X_{1},...,X_{t},Z_{t}=j\\right)$$&quot;,&quot;backgroundColor&quot;:&quot;#FFFFFF&quot;,&quot;type&quot;:&quot;$$&quot;,&quot;id&quot;:&quot;15&quot;,&quot;font&quot;:{&quot;size&quot;:14,&quot;family&quot;:&quot;Arial&quot;,&quot;color&quot;:&quot;#000000&quot;},&quot;aid&quot;:null,&quot;ts&quot;:1771518262339,&quot;cs&quot;:&quot;tWQjdQ07A5DEmthUtvkwDA==&quot;,&quot;size&quot;:{&quot;width&quot;:244.0341690288714,&quot;height&quot;:34.99999343832024}}" id="252" name="Google Shape;252;p26"/>
          <p:cNvPicPr preferRelativeResize="0"/>
          <p:nvPr/>
        </p:nvPicPr>
        <p:blipFill>
          <a:blip r:embed="rId4">
            <a:alphaModFix/>
          </a:blip>
          <a:stretch>
            <a:fillRect/>
          </a:stretch>
        </p:blipFill>
        <p:spPr>
          <a:xfrm>
            <a:off x="311700" y="1512901"/>
            <a:ext cx="2324425" cy="333375"/>
          </a:xfrm>
          <a:prstGeom prst="rect">
            <a:avLst/>
          </a:prstGeom>
          <a:noFill/>
          <a:ln>
            <a:noFill/>
          </a:ln>
        </p:spPr>
      </p:pic>
      <p:pic>
        <p:nvPicPr>
          <p:cNvPr descr="{&quot;type&quot;:&quot;$$&quot;,&quot;aid&quot;:null,&quot;backgroundColorModified&quot;:false,&quot;code&quot;:&quot;$$\\beta_{t}\\left(j\\right)\\eqat{\\Delta}\\,P\\left(\\giventhat{X_{t+1},...,X_{T}}{Z_{t}=j}\\right)$$&quot;,&quot;backgroundColor&quot;:&quot;#FFFFFF&quot;,&quot;font&quot;:{&quot;family&quot;:&quot;Arial&quot;,&quot;color&quot;:&quot;#000000&quot;,&quot;size&quot;:14},&quot;id&quot;:&quot;15&quot;,&quot;ts&quot;:1771525027888,&quot;cs&quot;:&quot;AIaFmbhinAA846lEqQhj6Q==&quot;,&quot;size&quot;:{&quot;width&quot;:315.75,&quot;height&quot;:34.00000000000002}}" id="253" name="Google Shape;253;p26"/>
          <p:cNvPicPr preferRelativeResize="0"/>
          <p:nvPr/>
        </p:nvPicPr>
        <p:blipFill>
          <a:blip r:embed="rId5">
            <a:alphaModFix/>
          </a:blip>
          <a:stretch>
            <a:fillRect/>
          </a:stretch>
        </p:blipFill>
        <p:spPr>
          <a:xfrm>
            <a:off x="5866856" y="1517654"/>
            <a:ext cx="3007519" cy="323850"/>
          </a:xfrm>
          <a:prstGeom prst="rect">
            <a:avLst/>
          </a:prstGeom>
          <a:noFill/>
          <a:ln>
            <a:noFill/>
          </a:ln>
        </p:spPr>
      </p:pic>
      <p:sp>
        <p:nvSpPr>
          <p:cNvPr id="254" name="Google Shape;254;p26"/>
          <p:cNvSpPr txBox="1"/>
          <p:nvPr>
            <p:ph type="title"/>
          </p:nvPr>
        </p:nvSpPr>
        <p:spPr>
          <a:xfrm>
            <a:off x="270215" y="382805"/>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Detección estadística de secuencias - Forward-</a:t>
            </a:r>
            <a:r>
              <a:rPr lang="es" sz="2600">
                <a:solidFill>
                  <a:schemeClr val="dk2"/>
                </a:solidFill>
              </a:rPr>
              <a:t>Backward</a:t>
            </a:r>
            <a:r>
              <a:rPr lang="es" sz="2600">
                <a:solidFill>
                  <a:schemeClr val="dk2"/>
                </a:solidFill>
              </a:rPr>
              <a: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7"/>
          <p:cNvSpPr txBox="1"/>
          <p:nvPr/>
        </p:nvSpPr>
        <p:spPr>
          <a:xfrm>
            <a:off x="571375" y="966550"/>
            <a:ext cx="7746300" cy="11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Dada una secuencia de observaciones 						y un modelo 				     determinar la correspondiente secuencia</a:t>
            </a:r>
            <a:endParaRPr sz="1800">
              <a:solidFill>
                <a:schemeClr val="dk2"/>
              </a:solidFill>
            </a:endParaRPr>
          </a:p>
          <a:p>
            <a:pPr indent="0" lvl="0" marL="0" rtl="0" algn="l">
              <a:spcBef>
                <a:spcPts val="0"/>
              </a:spcBef>
              <a:spcAft>
                <a:spcPts val="0"/>
              </a:spcAft>
              <a:buNone/>
            </a:pPr>
            <a:r>
              <a:rPr lang="es" sz="1800">
                <a:solidFill>
                  <a:schemeClr val="dk2"/>
                </a:solidFill>
              </a:rPr>
              <a:t>de estados subyacentes  				           que sea </a:t>
            </a:r>
            <a:r>
              <a:rPr lang="es" sz="1800">
                <a:solidFill>
                  <a:schemeClr val="dk2"/>
                </a:solidFill>
              </a:rPr>
              <a:t>óptimo</a:t>
            </a:r>
            <a:r>
              <a:rPr lang="es" sz="1800">
                <a:solidFill>
                  <a:schemeClr val="dk2"/>
                </a:solidFill>
              </a:rPr>
              <a:t> en alg</a:t>
            </a:r>
            <a:r>
              <a:rPr lang="es" sz="1800">
                <a:solidFill>
                  <a:schemeClr val="dk2"/>
                </a:solidFill>
              </a:rPr>
              <a:t>ún sentido</a:t>
            </a:r>
            <a:endParaRPr sz="1800">
              <a:solidFill>
                <a:schemeClr val="dk2"/>
              </a:solidFill>
            </a:endParaRPr>
          </a:p>
        </p:txBody>
      </p:sp>
      <p:pic>
        <p:nvPicPr>
          <p:cNvPr descr="{&quot;font&quot;:{&quot;size&quot;:18,&quot;family&quot;:&quot;Arial&quot;,&quot;color&quot;:&quot;#595959&quot;},&quot;type&quot;:&quot;$$&quot;,&quot;backgroundColor&quot;:&quot;#FFFFFF&quot;,&quot;backgroundColorModified&quot;:false,&quot;id&quot;:&quot;10&quot;,&quot;aid&quot;:null,&quot;code&quot;:&quot;$$\\mathbb{X}=\\,\\left\\{X_{1},\\,...,X_{T}\\right\\}$$&quot;,&quot;ts&quot;:1771516177848,&quot;cs&quot;:&quot;7Cu7QZPL1g77NJzW4QPbFA==&quot;,&quot;size&quot;:{&quot;width&quot;:231,&quot;height&quot;:28.399999999999988}}" id="260" name="Google Shape;260;p27"/>
          <p:cNvPicPr preferRelativeResize="0"/>
          <p:nvPr/>
        </p:nvPicPr>
        <p:blipFill>
          <a:blip r:embed="rId3">
            <a:alphaModFix/>
          </a:blip>
          <a:stretch>
            <a:fillRect/>
          </a:stretch>
        </p:blipFill>
        <p:spPr>
          <a:xfrm>
            <a:off x="4706800" y="1069800"/>
            <a:ext cx="2200275" cy="270510"/>
          </a:xfrm>
          <a:prstGeom prst="rect">
            <a:avLst/>
          </a:prstGeom>
          <a:noFill/>
          <a:ln>
            <a:noFill/>
          </a:ln>
        </p:spPr>
      </p:pic>
      <p:pic>
        <p:nvPicPr>
          <p:cNvPr descr="{&quot;backgroundColor&quot;:&quot;#FFFFFF&quot;,&quot;id&quot;:&quot;11&quot;,&quot;font&quot;:{&quot;size&quot;:18,&quot;color&quot;:&quot;#595959&quot;,&quot;family&quot;:&quot;Arial&quot;},&quot;code&quot;:&quot;$$\\lambda\\,=\\,\\left\\{A,B,\\Pi\\right\\}$$&quot;,&quot;type&quot;:&quot;$$&quot;,&quot;backgroundColorModified&quot;:false,&quot;aid&quot;:null,&quot;ts&quot;:1771516235234,&quot;cs&quot;:&quot;ysn3lsBw90GZp1n8CW+BdA==&quot;,&quot;size&quot;:{&quot;width&quot;:177,&quot;height&quot;:28.333333333333332}}" id="261" name="Google Shape;261;p27"/>
          <p:cNvPicPr preferRelativeResize="0"/>
          <p:nvPr/>
        </p:nvPicPr>
        <p:blipFill>
          <a:blip r:embed="rId4">
            <a:alphaModFix/>
          </a:blip>
          <a:stretch>
            <a:fillRect/>
          </a:stretch>
        </p:blipFill>
        <p:spPr>
          <a:xfrm>
            <a:off x="1481750" y="1339813"/>
            <a:ext cx="1685925" cy="269875"/>
          </a:xfrm>
          <a:prstGeom prst="rect">
            <a:avLst/>
          </a:prstGeom>
          <a:noFill/>
          <a:ln>
            <a:noFill/>
          </a:ln>
        </p:spPr>
      </p:pic>
      <p:pic>
        <p:nvPicPr>
          <p:cNvPr descr="{&quot;aid&quot;:null,&quot;backgroundColor&quot;:&quot;#FFFFFF&quot;,&quot;font&quot;:{&quot;size&quot;:18,&quot;color&quot;:&quot;#595959&quot;,&quot;family&quot;:&quot;Arial&quot;},&quot;type&quot;:&quot;$$&quot;,&quot;code&quot;:&quot;$$\\mathbb{Z}=\\,\\left\\{Z_{1},\\,...,Z_{T}\\right\\}$$&quot;,&quot;id&quot;:&quot;10&quot;,&quot;backgroundColorModified&quot;:false,&quot;ts&quot;:1771526606739,&quot;cs&quot;:&quot;bvQQituLNJF912RBU/fY7Q==&quot;,&quot;size&quot;:{&quot;width&quot;:221,&quot;height&quot;:28.399999999999988}}" id="262" name="Google Shape;262;p27"/>
          <p:cNvPicPr preferRelativeResize="0"/>
          <p:nvPr/>
        </p:nvPicPr>
        <p:blipFill>
          <a:blip r:embed="rId5">
            <a:alphaModFix/>
          </a:blip>
          <a:stretch>
            <a:fillRect/>
          </a:stretch>
        </p:blipFill>
        <p:spPr>
          <a:xfrm>
            <a:off x="3278750" y="1609388"/>
            <a:ext cx="2105025" cy="270510"/>
          </a:xfrm>
          <a:prstGeom prst="rect">
            <a:avLst/>
          </a:prstGeom>
          <a:noFill/>
          <a:ln>
            <a:noFill/>
          </a:ln>
        </p:spPr>
      </p:pic>
      <p:pic>
        <p:nvPicPr>
          <p:cNvPr descr="{&quot;font&quot;:{&quot;color&quot;:&quot;#000000&quot;,&quot;family&quot;:&quot;Arial&quot;,&quot;size&quot;:18},&quot;id&quot;:&quot;17&quot;,&quot;backgroundColor&quot;:&quot;#FFFFFF&quot;,&quot;aid&quot;:null,&quot;type&quot;:&quot;$$&quot;,&quot;backgroundColorModified&quot;:false,&quot;code&quot;:&quot;$$\\hat{\\mathbb{Z}}=\\arg \\max_{\\forall\\mathbb{Z}}P\\left(\\mathbb{Z,X}\\right)$$&quot;,&quot;ts&quot;:1771527967661,&quot;cs&quot;:&quot;5gvZb0lsLWhAHQ3fxf2yVw==&quot;,&quot;size&quot;:{&quot;width&quot;:254.40000000000006,&quot;height&quot;:46.19999999999999}}" id="263" name="Google Shape;263;p27"/>
          <p:cNvPicPr preferRelativeResize="0"/>
          <p:nvPr/>
        </p:nvPicPr>
        <p:blipFill>
          <a:blip r:embed="rId6">
            <a:alphaModFix/>
          </a:blip>
          <a:stretch>
            <a:fillRect/>
          </a:stretch>
        </p:blipFill>
        <p:spPr>
          <a:xfrm>
            <a:off x="1481738" y="2221600"/>
            <a:ext cx="2423160" cy="440055"/>
          </a:xfrm>
          <a:prstGeom prst="rect">
            <a:avLst/>
          </a:prstGeom>
          <a:noFill/>
          <a:ln>
            <a:noFill/>
          </a:ln>
        </p:spPr>
      </p:pic>
      <p:pic>
        <p:nvPicPr>
          <p:cNvPr descr="{&quot;code&quot;:&quot;$$P\\left(\\mathbb{X}\\right)=\\sum_{\\forall\\mathbb{Z}}^{}P\\left(\\mathbb{Z,X}\\right)$$&quot;,&quot;id&quot;:&quot;17&quot;,&quot;backgroundColor&quot;:&quot;#FFFFFF&quot;,&quot;backgroundColorModified&quot;:false,&quot;type&quot;:&quot;$$&quot;,&quot;font&quot;:{&quot;size&quot;:16,&quot;color&quot;:&quot;#000000&quot;,&quot;family&quot;:&quot;Arial&quot;},&quot;aid&quot;:null,&quot;ts&quot;:1771528115655,&quot;cs&quot;:&quot;amBEaA09Kbm79VRyLBNetw==&quot;,&quot;size&quot;:{&quot;width&quot;:220.39999999999998,&quot;height&quot;:52}}" id="264" name="Google Shape;264;p27"/>
          <p:cNvPicPr preferRelativeResize="0"/>
          <p:nvPr/>
        </p:nvPicPr>
        <p:blipFill>
          <a:blip r:embed="rId7">
            <a:alphaModFix/>
          </a:blip>
          <a:stretch>
            <a:fillRect/>
          </a:stretch>
        </p:blipFill>
        <p:spPr>
          <a:xfrm>
            <a:off x="5170516" y="2294150"/>
            <a:ext cx="2099310" cy="495300"/>
          </a:xfrm>
          <a:prstGeom prst="rect">
            <a:avLst/>
          </a:prstGeom>
          <a:noFill/>
          <a:ln>
            <a:noFill/>
          </a:ln>
        </p:spPr>
      </p:pic>
      <p:sp>
        <p:nvSpPr>
          <p:cNvPr id="265" name="Google Shape;265;p27"/>
          <p:cNvSpPr txBox="1"/>
          <p:nvPr/>
        </p:nvSpPr>
        <p:spPr>
          <a:xfrm>
            <a:off x="4027641" y="2179665"/>
            <a:ext cx="1132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similar a</a:t>
            </a:r>
            <a:endParaRPr sz="1800">
              <a:solidFill>
                <a:schemeClr val="dk2"/>
              </a:solidFill>
            </a:endParaRPr>
          </a:p>
        </p:txBody>
      </p:sp>
      <p:pic>
        <p:nvPicPr>
          <p:cNvPr descr="{&quot;type&quot;:&quot;$$&quot;,&quot;aid&quot;:null,&quot;font&quot;:{&quot;size&quot;:18,&quot;family&quot;:&quot;Arial&quot;,&quot;color&quot;:&quot;#000000&quot;},&quot;backgroundColor&quot;:&quot;#FFFFFF&quot;,&quot;backgroundColorModified&quot;:false,&quot;code&quot;:&quot;$$O\\left(N^{T}\\right)$$&quot;,&quot;id&quot;:&quot;14&quot;,&quot;ts&quot;:1771516640638,&quot;cs&quot;:&quot;vPM4FuQhL2GsHkIs4DUL/Q==&quot;,&quot;size&quot;:{&quot;width&quot;:89.16666666666667,&quot;height&quot;:35}}" id="266" name="Google Shape;266;p27"/>
          <p:cNvPicPr preferRelativeResize="0"/>
          <p:nvPr/>
        </p:nvPicPr>
        <p:blipFill>
          <a:blip r:embed="rId8">
            <a:alphaModFix/>
          </a:blip>
          <a:stretch>
            <a:fillRect/>
          </a:stretch>
        </p:blipFill>
        <p:spPr>
          <a:xfrm>
            <a:off x="8056320" y="2302130"/>
            <a:ext cx="849313" cy="333375"/>
          </a:xfrm>
          <a:prstGeom prst="rect">
            <a:avLst/>
          </a:prstGeom>
          <a:noFill/>
          <a:ln>
            <a:noFill/>
          </a:ln>
        </p:spPr>
      </p:pic>
      <p:sp>
        <p:nvSpPr>
          <p:cNvPr id="267" name="Google Shape;267;p27"/>
          <p:cNvSpPr/>
          <p:nvPr/>
        </p:nvSpPr>
        <p:spPr>
          <a:xfrm>
            <a:off x="1338875" y="2096200"/>
            <a:ext cx="26784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8" name="Google Shape;268;p27"/>
          <p:cNvSpPr/>
          <p:nvPr/>
        </p:nvSpPr>
        <p:spPr>
          <a:xfrm>
            <a:off x="7902945" y="2096200"/>
            <a:ext cx="10680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 name="Google Shape;269;p27"/>
          <p:cNvSpPr txBox="1"/>
          <p:nvPr/>
        </p:nvSpPr>
        <p:spPr>
          <a:xfrm>
            <a:off x="716550" y="3061301"/>
            <a:ext cx="7953900" cy="74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Para resolver esto usamos un algoritmo similar a recursion </a:t>
            </a:r>
            <a:r>
              <a:rPr lang="es" sz="1800">
                <a:solidFill>
                  <a:schemeClr val="dk2"/>
                </a:solidFill>
              </a:rPr>
              <a:t>forward</a:t>
            </a:r>
            <a:r>
              <a:rPr lang="es" sz="1800">
                <a:solidFill>
                  <a:schemeClr val="dk2"/>
                </a:solidFill>
              </a:rPr>
              <a:t>.</a:t>
            </a:r>
            <a:endParaRPr sz="1800">
              <a:solidFill>
                <a:schemeClr val="dk2"/>
              </a:solidFill>
            </a:endParaRPr>
          </a:p>
          <a:p>
            <a:pPr indent="0" lvl="0" marL="0" rtl="0" algn="l">
              <a:spcBef>
                <a:spcPts val="0"/>
              </a:spcBef>
              <a:spcAft>
                <a:spcPts val="0"/>
              </a:spcAft>
              <a:buNone/>
            </a:pPr>
            <a:r>
              <a:rPr b="1" lang="es" sz="1800">
                <a:solidFill>
                  <a:schemeClr val="dk2"/>
                </a:solidFill>
              </a:rPr>
              <a:t>Algoritmo Viterbi</a:t>
            </a:r>
            <a:endParaRPr b="1" sz="1800">
              <a:solidFill>
                <a:schemeClr val="dk2"/>
              </a:solidFill>
            </a:endParaRPr>
          </a:p>
        </p:txBody>
      </p:sp>
      <p:pic>
        <p:nvPicPr>
          <p:cNvPr descr="{&quot;id&quot;:&quot;18&quot;,&quot;code&quot;:&quot;$$\\phi_{t}\\left(j\\right)\\,\\eqat{\\Delta}\\,\\max_{\\forall Z_{1},...,Z_{t-1}}P\\left(\\mathbb{Z}_{t-1},Z_{t}=j,\\mathbb{X}_{t}\\right)$$&quot;,&quot;backgroundColor&quot;:&quot;#FFFFFF&quot;,&quot;type&quot;:&quot;$$&quot;,&quot;aid&quot;:null,&quot;font&quot;:{&quot;color&quot;:&quot;#000000&quot;,&quot;size&quot;:14,&quot;family&quot;:&quot;Arial&quot;},&quot;backgroundColorModified&quot;:false,&quot;ts&quot;:1771528525959,&quot;cs&quot;:&quot;Rp8fVYzdPQRwBZgi+vjYLg==&quot;,&quot;size&quot;:{&quot;width&quot;:347,&quot;height&quot;:46.333333333333336}}" id="270" name="Google Shape;270;p27"/>
          <p:cNvPicPr preferRelativeResize="0"/>
          <p:nvPr/>
        </p:nvPicPr>
        <p:blipFill>
          <a:blip r:embed="rId9">
            <a:alphaModFix/>
          </a:blip>
          <a:stretch>
            <a:fillRect/>
          </a:stretch>
        </p:blipFill>
        <p:spPr>
          <a:xfrm>
            <a:off x="2941300" y="3670710"/>
            <a:ext cx="3305175" cy="441325"/>
          </a:xfrm>
          <a:prstGeom prst="rect">
            <a:avLst/>
          </a:prstGeom>
          <a:noFill/>
          <a:ln>
            <a:noFill/>
          </a:ln>
        </p:spPr>
      </p:pic>
      <p:sp>
        <p:nvSpPr>
          <p:cNvPr id="271" name="Google Shape;271;p27"/>
          <p:cNvSpPr txBox="1"/>
          <p:nvPr/>
        </p:nvSpPr>
        <p:spPr>
          <a:xfrm>
            <a:off x="716545" y="4233091"/>
            <a:ext cx="7539000" cy="66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De todas las secuencias que en el instante </a:t>
            </a:r>
            <a:r>
              <a:rPr b="1" lang="es" sz="1800">
                <a:solidFill>
                  <a:schemeClr val="dk2"/>
                </a:solidFill>
              </a:rPr>
              <a:t>t</a:t>
            </a:r>
            <a:r>
              <a:rPr lang="es" sz="1800">
                <a:solidFill>
                  <a:schemeClr val="dk2"/>
                </a:solidFill>
              </a:rPr>
              <a:t> se encuentran en el estado </a:t>
            </a:r>
            <a:r>
              <a:rPr b="1" lang="es" sz="1800">
                <a:solidFill>
                  <a:schemeClr val="dk2"/>
                </a:solidFill>
              </a:rPr>
              <a:t>j</a:t>
            </a:r>
            <a:r>
              <a:rPr lang="es" sz="1800">
                <a:solidFill>
                  <a:schemeClr val="dk2"/>
                </a:solidFill>
              </a:rPr>
              <a:t> nos dice la </a:t>
            </a:r>
            <a:r>
              <a:rPr lang="es" sz="1800">
                <a:solidFill>
                  <a:schemeClr val="dk2"/>
                </a:solidFill>
              </a:rPr>
              <a:t>más</a:t>
            </a:r>
            <a:r>
              <a:rPr lang="es" sz="1800">
                <a:solidFill>
                  <a:schemeClr val="dk2"/>
                </a:solidFill>
              </a:rPr>
              <a:t> probable para la </a:t>
            </a:r>
            <a:r>
              <a:rPr lang="es" sz="1800">
                <a:solidFill>
                  <a:schemeClr val="dk2"/>
                </a:solidFill>
              </a:rPr>
              <a:t>secuencia</a:t>
            </a:r>
            <a:r>
              <a:rPr lang="es" sz="1800">
                <a:solidFill>
                  <a:schemeClr val="dk2"/>
                </a:solidFill>
              </a:rPr>
              <a:t> de observaciones.</a:t>
            </a:r>
            <a:endParaRPr sz="1800">
              <a:solidFill>
                <a:schemeClr val="dk2"/>
              </a:solidFill>
            </a:endParaRPr>
          </a:p>
        </p:txBody>
      </p:sp>
      <p:sp>
        <p:nvSpPr>
          <p:cNvPr id="272" name="Google Shape;272;p27"/>
          <p:cNvSpPr txBox="1"/>
          <p:nvPr>
            <p:ph type="title"/>
          </p:nvPr>
        </p:nvSpPr>
        <p:spPr>
          <a:xfrm>
            <a:off x="270215" y="382805"/>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Detección estadística de secuencias - 2°-Viterbi.</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28"/>
          <p:cNvPicPr preferRelativeResize="0"/>
          <p:nvPr/>
        </p:nvPicPr>
        <p:blipFill>
          <a:blip r:embed="rId3">
            <a:alphaModFix/>
          </a:blip>
          <a:stretch>
            <a:fillRect/>
          </a:stretch>
        </p:blipFill>
        <p:spPr>
          <a:xfrm>
            <a:off x="1656049" y="841425"/>
            <a:ext cx="5655799" cy="4124550"/>
          </a:xfrm>
          <a:prstGeom prst="rect">
            <a:avLst/>
          </a:prstGeom>
          <a:noFill/>
          <a:ln>
            <a:noFill/>
          </a:ln>
        </p:spPr>
      </p:pic>
      <p:sp>
        <p:nvSpPr>
          <p:cNvPr id="278" name="Google Shape;278;p28"/>
          <p:cNvSpPr txBox="1"/>
          <p:nvPr>
            <p:ph type="title"/>
          </p:nvPr>
        </p:nvSpPr>
        <p:spPr>
          <a:xfrm>
            <a:off x="270215" y="351695"/>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Detección estadística de secuencias - 2°-Viterbi.</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9"/>
          <p:cNvSpPr txBox="1"/>
          <p:nvPr>
            <p:ph type="title"/>
          </p:nvPr>
        </p:nvSpPr>
        <p:spPr>
          <a:xfrm>
            <a:off x="270215" y="351695"/>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Detección estadística de secuencias - 3°-BW.</a:t>
            </a:r>
            <a:endParaRPr/>
          </a:p>
        </p:txBody>
      </p:sp>
      <p:sp>
        <p:nvSpPr>
          <p:cNvPr id="284" name="Google Shape;284;p29"/>
          <p:cNvSpPr txBox="1"/>
          <p:nvPr/>
        </p:nvSpPr>
        <p:spPr>
          <a:xfrm>
            <a:off x="478050" y="976934"/>
            <a:ext cx="8312700" cy="131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Cómo</a:t>
            </a:r>
            <a:r>
              <a:rPr lang="es" sz="1800">
                <a:solidFill>
                  <a:schemeClr val="dk2"/>
                </a:solidFill>
              </a:rPr>
              <a:t> ajustar los </a:t>
            </a:r>
            <a:r>
              <a:rPr lang="es" sz="1800">
                <a:solidFill>
                  <a:schemeClr val="dk2"/>
                </a:solidFill>
              </a:rPr>
              <a:t>parámetros</a:t>
            </a:r>
            <a:r>
              <a:rPr lang="es" sz="1800">
                <a:solidFill>
                  <a:schemeClr val="dk2"/>
                </a:solidFill>
              </a:rPr>
              <a:t> del modelo 				 a partir de secuencias de observaciones de entrenamiento.</a:t>
            </a:r>
            <a:endParaRPr sz="1800">
              <a:solidFill>
                <a:schemeClr val="dk2"/>
              </a:solidFill>
            </a:endParaRPr>
          </a:p>
          <a:p>
            <a:pPr indent="0" lvl="0" marL="0" rtl="0" algn="l">
              <a:spcBef>
                <a:spcPts val="0"/>
              </a:spcBef>
              <a:spcAft>
                <a:spcPts val="0"/>
              </a:spcAft>
              <a:buNone/>
            </a:pPr>
            <a:r>
              <a:rPr lang="es" sz="1800">
                <a:solidFill>
                  <a:schemeClr val="dk2"/>
                </a:solidFill>
              </a:rPr>
              <a:t>La solución a usar la </a:t>
            </a:r>
            <a:r>
              <a:rPr lang="es" sz="1800">
                <a:solidFill>
                  <a:schemeClr val="dk2"/>
                </a:solidFill>
              </a:rPr>
              <a:t>versión</a:t>
            </a:r>
            <a:r>
              <a:rPr lang="es" sz="1800">
                <a:solidFill>
                  <a:schemeClr val="dk2"/>
                </a:solidFill>
              </a:rPr>
              <a:t> de EM para HMMs, llamado </a:t>
            </a:r>
            <a:r>
              <a:rPr b="1" lang="es" sz="1800">
                <a:solidFill>
                  <a:schemeClr val="dk2"/>
                </a:solidFill>
              </a:rPr>
              <a:t>Baum-Welch</a:t>
            </a:r>
            <a:r>
              <a:rPr lang="es" sz="1800">
                <a:solidFill>
                  <a:schemeClr val="dk2"/>
                </a:solidFill>
              </a:rPr>
              <a:t>.</a:t>
            </a:r>
            <a:endParaRPr sz="1800">
              <a:solidFill>
                <a:schemeClr val="dk2"/>
              </a:solidFill>
            </a:endParaRPr>
          </a:p>
        </p:txBody>
      </p:sp>
      <p:pic>
        <p:nvPicPr>
          <p:cNvPr descr="{&quot;backgroundColor&quot;:&quot;#FFFFFF&quot;,&quot;id&quot;:&quot;11&quot;,&quot;font&quot;:{&quot;size&quot;:18,&quot;color&quot;:&quot;#595959&quot;,&quot;family&quot;:&quot;Arial&quot;},&quot;code&quot;:&quot;$$\\lambda\\,=\\,\\left\\{A,B,\\Pi\\right\\}$$&quot;,&quot;type&quot;:&quot;$$&quot;,&quot;backgroundColorModified&quot;:false,&quot;aid&quot;:null,&quot;ts&quot;:1771516235234,&quot;cs&quot;:&quot;ysn3lsBw90GZp1n8CW+BdA==&quot;,&quot;size&quot;:{&quot;width&quot;:177,&quot;height&quot;:28.333333333333332}}" id="285" name="Google Shape;285;p29"/>
          <p:cNvPicPr preferRelativeResize="0"/>
          <p:nvPr/>
        </p:nvPicPr>
        <p:blipFill>
          <a:blip r:embed="rId3">
            <a:alphaModFix/>
          </a:blip>
          <a:stretch>
            <a:fillRect/>
          </a:stretch>
        </p:blipFill>
        <p:spPr>
          <a:xfrm>
            <a:off x="4789775" y="1080563"/>
            <a:ext cx="1685925" cy="269875"/>
          </a:xfrm>
          <a:prstGeom prst="rect">
            <a:avLst/>
          </a:prstGeom>
          <a:noFill/>
          <a:ln>
            <a:noFill/>
          </a:ln>
        </p:spPr>
      </p:pic>
      <p:pic>
        <p:nvPicPr>
          <p:cNvPr descr="{&quot;font&quot;:{&quot;size&quot;:12,&quot;color&quot;:&quot;#000000&quot;,&quot;family&quot;:&quot;Arial&quot;},&quot;code&quot;:&quot;$$\\gamma_{t}\\left(j\\right)\\,=\\,P\\left(\\giventhat{Z_{t}=j}{X_{i}^{T}}\\right)=\\frac{\\alpha_{t}\\left(j\\right)\\beta_{t}\\left(j\\right)}{\\sum_{j=1}^{N}\\alpha_{t}\\left(j\\right)\\beta_{t}\\left(j\\right)}$$&quot;,&quot;backgroundColor&quot;:&quot;#FFFFFF&quot;,&quot;aid&quot;:null,&quot;id&quot;:&quot;19&quot;,&quot;backgroundColorModified&quot;:false,&quot;type&quot;:&quot;$$&quot;,&quot;ts&quot;:1771531955261,&quot;cs&quot;:&quot;i7AZp91ND2ngazf5UYa4xw==&quot;,&quot;size&quot;:{&quot;width&quot;:364,&quot;height&quot;:53}}" id="286" name="Google Shape;286;p29"/>
          <p:cNvPicPr preferRelativeResize="0"/>
          <p:nvPr/>
        </p:nvPicPr>
        <p:blipFill>
          <a:blip r:embed="rId4">
            <a:alphaModFix/>
          </a:blip>
          <a:stretch>
            <a:fillRect/>
          </a:stretch>
        </p:blipFill>
        <p:spPr>
          <a:xfrm>
            <a:off x="5323730" y="2644213"/>
            <a:ext cx="3467100" cy="504825"/>
          </a:xfrm>
          <a:prstGeom prst="rect">
            <a:avLst/>
          </a:prstGeom>
          <a:noFill/>
          <a:ln>
            <a:noFill/>
          </a:ln>
        </p:spPr>
      </p:pic>
      <p:pic>
        <p:nvPicPr>
          <p:cNvPr descr="{&quot;font&quot;:{&quot;size&quot;:12,&quot;family&quot;:&quot;Arial&quot;,&quot;color&quot;:&quot;#000000&quot;},&quot;aid&quot;:null,&quot;backgroundColor&quot;:&quot;#FFFFFF&quot;,&quot;backgroundColorModified&quot;:false,&quot;code&quot;:&quot;$$\\xi_{t}\\left(k,j\\right)\\,=\\,P\\left(\\giventhat{Z_{t+1}=k,Z_{t}=j}{X_{i}^{T}}\\right)=\\frac{\\alpha_{t-1}\\left(k\\right)\\alpha_{kj}\\left(j\\right)\\beta_{j}\\left(X_{t}\\right)\\beta_{t}\\left(j\\right)}{\\sum_{j=1}^{N}\\alpha_{t}\\left(j\\right)\\beta_{t}\\left(j\\right)}$$&quot;,&quot;id&quot;:&quot;19&quot;,&quot;type&quot;:&quot;$$&quot;,&quot;ts&quot;:1771531940015,&quot;cs&quot;:&quot;3SnsOOhJXsTSP6Mmpl8AIw==&quot;,&quot;size&quot;:{&quot;width&quot;:540.5,&quot;height&quot;:53.999999999999964}}" id="287" name="Google Shape;287;p29"/>
          <p:cNvPicPr preferRelativeResize="0"/>
          <p:nvPr/>
        </p:nvPicPr>
        <p:blipFill>
          <a:blip r:embed="rId5">
            <a:alphaModFix/>
          </a:blip>
          <a:stretch>
            <a:fillRect/>
          </a:stretch>
        </p:blipFill>
        <p:spPr>
          <a:xfrm>
            <a:off x="509110" y="1967935"/>
            <a:ext cx="5148263" cy="514350"/>
          </a:xfrm>
          <a:prstGeom prst="rect">
            <a:avLst/>
          </a:prstGeom>
          <a:noFill/>
          <a:ln>
            <a:noFill/>
          </a:ln>
        </p:spPr>
      </p:pic>
      <p:pic>
        <p:nvPicPr>
          <p:cNvPr id="288" name="Google Shape;288;p29"/>
          <p:cNvPicPr preferRelativeResize="0"/>
          <p:nvPr/>
        </p:nvPicPr>
        <p:blipFill>
          <a:blip r:embed="rId6">
            <a:alphaModFix/>
          </a:blip>
          <a:stretch>
            <a:fillRect/>
          </a:stretch>
        </p:blipFill>
        <p:spPr>
          <a:xfrm>
            <a:off x="478050" y="2571759"/>
            <a:ext cx="4705196" cy="254476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0"/>
          <p:cNvSpPr txBox="1"/>
          <p:nvPr>
            <p:ph type="title"/>
          </p:nvPr>
        </p:nvSpPr>
        <p:spPr>
          <a:xfrm>
            <a:off x="311700" y="393175"/>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Aplicación de HMM al habla.</a:t>
            </a:r>
            <a:endParaRPr sz="2600">
              <a:solidFill>
                <a:schemeClr val="dk2"/>
              </a:solidFill>
            </a:endParaRPr>
          </a:p>
          <a:p>
            <a:pPr indent="0" lvl="0" marL="0" rtl="0" algn="l">
              <a:spcBef>
                <a:spcPts val="1200"/>
              </a:spcBef>
              <a:spcAft>
                <a:spcPts val="0"/>
              </a:spcAft>
              <a:buNone/>
            </a:pPr>
            <a:r>
              <a:t/>
            </a:r>
            <a:endParaRPr/>
          </a:p>
        </p:txBody>
      </p:sp>
      <p:sp>
        <p:nvSpPr>
          <p:cNvPr id="294" name="Google Shape;294;p30"/>
          <p:cNvSpPr txBox="1"/>
          <p:nvPr/>
        </p:nvSpPr>
        <p:spPr>
          <a:xfrm>
            <a:off x="332875" y="1184325"/>
            <a:ext cx="8555100" cy="381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La idea es predecir la siguiente palabra de una frase.</a:t>
            </a:r>
            <a:endParaRPr sz="1800">
              <a:solidFill>
                <a:schemeClr val="dk2"/>
              </a:solidFill>
            </a:endParaRPr>
          </a:p>
          <a:p>
            <a:pPr indent="0" lvl="0" marL="0" rtl="0" algn="l">
              <a:spcBef>
                <a:spcPts val="0"/>
              </a:spcBef>
              <a:spcAft>
                <a:spcPts val="0"/>
              </a:spcAft>
              <a:buNone/>
            </a:pPr>
            <a:r>
              <a:rPr lang="es" sz="1800">
                <a:solidFill>
                  <a:schemeClr val="dk2"/>
                </a:solidFill>
              </a:rPr>
              <a:t>Formalmente dado un vocabulario de posibles palabras</a:t>
            </a:r>
            <a:endParaRPr sz="1800">
              <a:solidFill>
                <a:schemeClr val="dk2"/>
              </a:solidFill>
            </a:endParaRPr>
          </a:p>
          <a:p>
            <a:pPr indent="0" lvl="0" marL="0" rtl="0" algn="l">
              <a:spcBef>
                <a:spcPts val="0"/>
              </a:spcBef>
              <a:spcAft>
                <a:spcPts val="0"/>
              </a:spcAft>
              <a:buNone/>
            </a:pPr>
            <a:r>
              <a:rPr lang="es" sz="1800">
                <a:solidFill>
                  <a:schemeClr val="dk2"/>
                </a:solidFill>
              </a:rPr>
              <a:t>y una secuencia de palabras				    pertenecientes a dicho vocabulario</a:t>
            </a:r>
            <a:endParaRPr sz="1800">
              <a:solidFill>
                <a:schemeClr val="dk2"/>
              </a:solidFill>
            </a:endParaRPr>
          </a:p>
          <a:p>
            <a:pPr indent="0" lvl="0" marL="0" rtl="0" algn="l">
              <a:spcBef>
                <a:spcPts val="0"/>
              </a:spcBef>
              <a:spcAft>
                <a:spcPts val="0"/>
              </a:spcAft>
              <a:buNone/>
            </a:pPr>
            <a:r>
              <a:rPr lang="es" sz="1800">
                <a:solidFill>
                  <a:schemeClr val="dk2"/>
                </a:solidFill>
              </a:rPr>
              <a:t>calcular la probabilidad de la siguiente palabra.</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a:solidFill>
                  <a:schemeClr val="dk2"/>
                </a:solidFill>
              </a:rPr>
              <a:t>Otra forma de verlo es que el modelo asigne probabilidades a una secuencia.</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descr="{&quot;code&quot;:&quot;$$V\\,=\\,\\left\\{V_{1},...,V_{\\left|V\\right|}\\right\\}$$&quot;,&quot;type&quot;:&quot;$$&quot;,&quot;id&quot;:&quot;20&quot;,&quot;font&quot;:{&quot;color&quot;:&quot;#000000&quot;,&quot;family&quot;:&quot;Arial&quot;,&quot;size&quot;:18},&quot;backgroundColor&quot;:&quot;#FFFFFF&quot;,&quot;backgroundColorModified&quot;:false,&quot;aid&quot;:null,&quot;ts&quot;:1771533492894,&quot;cs&quot;:&quot;d/p+kHcahNNOWQKhcG1QGQ==&quot;,&quot;size&quot;:{&quot;width&quot;:233.59999999999994,&quot;height&quot;:34}}" id="295" name="Google Shape;295;p30"/>
          <p:cNvPicPr preferRelativeResize="0"/>
          <p:nvPr/>
        </p:nvPicPr>
        <p:blipFill>
          <a:blip r:embed="rId3">
            <a:alphaModFix/>
          </a:blip>
          <a:stretch>
            <a:fillRect/>
          </a:stretch>
        </p:blipFill>
        <p:spPr>
          <a:xfrm>
            <a:off x="6148250" y="1576225"/>
            <a:ext cx="2225040" cy="323850"/>
          </a:xfrm>
          <a:prstGeom prst="rect">
            <a:avLst/>
          </a:prstGeom>
          <a:noFill/>
          <a:ln>
            <a:noFill/>
          </a:ln>
        </p:spPr>
      </p:pic>
      <p:pic>
        <p:nvPicPr>
          <p:cNvPr descr="{&quot;type&quot;:&quot;$$&quot;,&quot;aid&quot;:null,&quot;backgroundColor&quot;:&quot;#FFFFFF&quot;,&quot;id&quot;:&quot;21&quot;,&quot;backgroundColorModified&quot;:false,&quot;code&quot;:&quot;$$W_{1,}W_{2},...,W_{n}$$&quot;,&quot;font&quot;:{&quot;color&quot;:&quot;#595959&quot;,&quot;size&quot;:18,&quot;family&quot;:&quot;Arial&quot;},&quot;ts&quot;:1771533547190,&quot;cs&quot;:&quot;rPYziL6Pnj83rD+DR3zzEA==&quot;,&quot;size&quot;:{&quot;width&quot;:183.5,&quot;height&quot;:27.333333333333332}}" id="296" name="Google Shape;296;p30"/>
          <p:cNvPicPr preferRelativeResize="0"/>
          <p:nvPr/>
        </p:nvPicPr>
        <p:blipFill>
          <a:blip r:embed="rId4">
            <a:alphaModFix/>
          </a:blip>
          <a:stretch>
            <a:fillRect/>
          </a:stretch>
        </p:blipFill>
        <p:spPr>
          <a:xfrm>
            <a:off x="3441675" y="1835500"/>
            <a:ext cx="1747838" cy="260350"/>
          </a:xfrm>
          <a:prstGeom prst="rect">
            <a:avLst/>
          </a:prstGeom>
          <a:noFill/>
          <a:ln>
            <a:noFill/>
          </a:ln>
        </p:spPr>
      </p:pic>
      <p:pic>
        <p:nvPicPr>
          <p:cNvPr descr="{&quot;id&quot;:&quot;22&quot;,&quot;backgroundColorModified&quot;:false,&quot;type&quot;:&quot;$$&quot;,&quot;code&quot;:&quot;$$W_{n+1}\\,\\in\\,V\\,\\,\\,\\,\\,\\,\\,\\,\\,\\,\\,\\,\\,P\\left(\\giventhat{W_{n+1}}{W_{1,}W_{2},...,W_{n}}\\right)$$&quot;,&quot;font&quot;:{&quot;color&quot;:&quot;#595959&quot;,&quot;family&quot;:&quot;Arial&quot;,&quot;size&quot;:18},&quot;aid&quot;:null,&quot;backgroundColor&quot;:&quot;#FFFFFF&quot;,&quot;ts&quot;:1771533703586,&quot;cs&quot;:&quot;wNl4rNYRyGVrIqKCM5ro/Q==&quot;,&quot;size&quot;:{&quot;width&quot;:507,&quot;height&quot;:29.5}}" id="297" name="Google Shape;297;p30"/>
          <p:cNvPicPr preferRelativeResize="0"/>
          <p:nvPr/>
        </p:nvPicPr>
        <p:blipFill>
          <a:blip r:embed="rId5">
            <a:alphaModFix/>
          </a:blip>
          <a:stretch>
            <a:fillRect/>
          </a:stretch>
        </p:blipFill>
        <p:spPr>
          <a:xfrm>
            <a:off x="2292350" y="2578808"/>
            <a:ext cx="4829175" cy="280988"/>
          </a:xfrm>
          <a:prstGeom prst="rect">
            <a:avLst/>
          </a:prstGeom>
          <a:noFill/>
          <a:ln>
            <a:noFill/>
          </a:ln>
        </p:spPr>
      </p:pic>
      <p:pic>
        <p:nvPicPr>
          <p:cNvPr descr="{&quot;type&quot;:&quot;$$&quot;,&quot;aid&quot;:null,&quot;code&quot;:&quot;$$P\\left(W_{1},...,W_{N}\\right)\\,=\\,\\prod_{i=1}^{N}P\\left(\\giventhat{W_{i}}{W_{i-1},...,W_{1}}\\right)$$&quot;,&quot;id&quot;:&quot;22&quot;,&quot;backgroundColorModified&quot;:false,&quot;backgroundColor&quot;:&quot;#FFFFFF&quot;,&quot;font&quot;:{&quot;size&quot;:18,&quot;family&quot;:&quot;Arial&quot;,&quot;color&quot;:&quot;#595959&quot;},&quot;ts&quot;:1771534945766,&quot;cs&quot;:&quot;Tl/B0GQJ+n2gER5X0uHB/Q==&quot;,&quot;size&quot;:{&quot;width&quot;:544,&quot;height&quot;:77.5}}" id="298" name="Google Shape;298;p30"/>
          <p:cNvPicPr preferRelativeResize="0"/>
          <p:nvPr/>
        </p:nvPicPr>
        <p:blipFill>
          <a:blip r:embed="rId6">
            <a:alphaModFix/>
          </a:blip>
          <a:stretch>
            <a:fillRect/>
          </a:stretch>
        </p:blipFill>
        <p:spPr>
          <a:xfrm>
            <a:off x="2292362" y="3538533"/>
            <a:ext cx="5181600" cy="738188"/>
          </a:xfrm>
          <a:prstGeom prst="rect">
            <a:avLst/>
          </a:prstGeom>
          <a:noFill/>
          <a:ln>
            <a:noFill/>
          </a:ln>
        </p:spPr>
      </p:pic>
      <p:pic>
        <p:nvPicPr>
          <p:cNvPr descr="{&quot;type&quot;:&quot;$$&quot;,&quot;backgroundColorModified&quot;:false,&quot;backgroundColor&quot;:&quot;#FFFFFF&quot;,&quot;id&quot;:&quot;22&quot;,&quot;code&quot;:&quot;$$P\\left(\\giventhat{W_{i}}{W_{i-1},...,W_{1}}\\right)$$&quot;,&quot;font&quot;:{&quot;size&quot;:18,&quot;family&quot;:&quot;Arial&quot;,&quot;color&quot;:&quot;#595959&quot;},&quot;aid&quot;:null,&quot;ts&quot;:1771534988654,&quot;cs&quot;:&quot;m4xD6FgRM+zxf6V4yTrtlg==&quot;,&quot;size&quot;:{&quot;width&quot;:259.8,&quot;height&quot;:28.399999999999988}}" id="299" name="Google Shape;299;p30"/>
          <p:cNvPicPr preferRelativeResize="0"/>
          <p:nvPr/>
        </p:nvPicPr>
        <p:blipFill>
          <a:blip r:embed="rId7">
            <a:alphaModFix/>
          </a:blip>
          <a:stretch>
            <a:fillRect/>
          </a:stretch>
        </p:blipFill>
        <p:spPr>
          <a:xfrm>
            <a:off x="5561087" y="4472713"/>
            <a:ext cx="2474595" cy="270510"/>
          </a:xfrm>
          <a:prstGeom prst="rect">
            <a:avLst/>
          </a:prstGeom>
          <a:noFill/>
          <a:ln>
            <a:noFill/>
          </a:ln>
        </p:spPr>
      </p:pic>
      <p:sp>
        <p:nvSpPr>
          <p:cNvPr id="300" name="Google Shape;300;p30"/>
          <p:cNvSpPr txBox="1"/>
          <p:nvPr/>
        </p:nvSpPr>
        <p:spPr>
          <a:xfrm>
            <a:off x="436742" y="4351498"/>
            <a:ext cx="5446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Entonces hay que estimar cada una de estas probabilidades</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1"/>
          <p:cNvSpPr txBox="1"/>
          <p:nvPr>
            <p:ph type="title"/>
          </p:nvPr>
        </p:nvSpPr>
        <p:spPr>
          <a:xfrm>
            <a:off x="311700" y="153609"/>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Aplicación de HMM al habla.</a:t>
            </a:r>
            <a:endParaRPr sz="2600">
              <a:solidFill>
                <a:schemeClr val="dk2"/>
              </a:solidFill>
            </a:endParaRPr>
          </a:p>
          <a:p>
            <a:pPr indent="0" lvl="0" marL="0" rtl="0" algn="l">
              <a:spcBef>
                <a:spcPts val="1200"/>
              </a:spcBef>
              <a:spcAft>
                <a:spcPts val="0"/>
              </a:spcAft>
              <a:buNone/>
            </a:pPr>
            <a:r>
              <a:t/>
            </a:r>
            <a:endParaRPr/>
          </a:p>
        </p:txBody>
      </p:sp>
      <p:pic>
        <p:nvPicPr>
          <p:cNvPr id="306" name="Google Shape;306;p31"/>
          <p:cNvPicPr preferRelativeResize="0"/>
          <p:nvPr/>
        </p:nvPicPr>
        <p:blipFill>
          <a:blip r:embed="rId3">
            <a:alphaModFix/>
          </a:blip>
          <a:stretch>
            <a:fillRect/>
          </a:stretch>
        </p:blipFill>
        <p:spPr>
          <a:xfrm>
            <a:off x="390500" y="1303203"/>
            <a:ext cx="4498150" cy="2975800"/>
          </a:xfrm>
          <a:prstGeom prst="rect">
            <a:avLst/>
          </a:prstGeom>
          <a:noFill/>
          <a:ln>
            <a:noFill/>
          </a:ln>
        </p:spPr>
      </p:pic>
      <p:pic>
        <p:nvPicPr>
          <p:cNvPr id="307" name="Google Shape;307;p31"/>
          <p:cNvPicPr preferRelativeResize="0"/>
          <p:nvPr/>
        </p:nvPicPr>
        <p:blipFill>
          <a:blip r:embed="rId4">
            <a:alphaModFix/>
          </a:blip>
          <a:stretch>
            <a:fillRect/>
          </a:stretch>
        </p:blipFill>
        <p:spPr>
          <a:xfrm>
            <a:off x="4691275" y="1798378"/>
            <a:ext cx="4141025" cy="2304625"/>
          </a:xfrm>
          <a:prstGeom prst="rect">
            <a:avLst/>
          </a:prstGeom>
          <a:noFill/>
          <a:ln>
            <a:noFill/>
          </a:ln>
        </p:spPr>
      </p:pic>
      <p:sp>
        <p:nvSpPr>
          <p:cNvPr id="308" name="Google Shape;308;p31"/>
          <p:cNvSpPr txBox="1"/>
          <p:nvPr/>
        </p:nvSpPr>
        <p:spPr>
          <a:xfrm>
            <a:off x="384975" y="769261"/>
            <a:ext cx="8499900" cy="87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Se modela el habla con n-gramas, se utilizará los bigramas</a:t>
            </a:r>
            <a:endParaRPr sz="1800">
              <a:solidFill>
                <a:schemeClr val="dk2"/>
              </a:solidFill>
            </a:endParaRPr>
          </a:p>
        </p:txBody>
      </p:sp>
      <p:sp>
        <p:nvSpPr>
          <p:cNvPr id="309" name="Google Shape;309;p31"/>
          <p:cNvSpPr txBox="1"/>
          <p:nvPr/>
        </p:nvSpPr>
        <p:spPr>
          <a:xfrm>
            <a:off x="633375" y="4444675"/>
            <a:ext cx="8003100" cy="698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s" sz="1800">
                <a:solidFill>
                  <a:schemeClr val="dk2"/>
                </a:solidFill>
              </a:rPr>
              <a:t>Aparecen prob. nulas - overfitting.</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Frases similares tienen probabilidades muy distintas.</a:t>
            </a:r>
            <a:endParaRPr sz="18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2"/>
          <p:cNvSpPr txBox="1"/>
          <p:nvPr>
            <p:ph type="title"/>
          </p:nvPr>
        </p:nvSpPr>
        <p:spPr>
          <a:xfrm>
            <a:off x="250400" y="153600"/>
            <a:ext cx="85818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Aplicación de HMM al habla - Suavizados.</a:t>
            </a:r>
            <a:endParaRPr sz="2600">
              <a:solidFill>
                <a:schemeClr val="dk2"/>
              </a:solidFill>
            </a:endParaRPr>
          </a:p>
          <a:p>
            <a:pPr indent="0" lvl="0" marL="0" rtl="0" algn="l">
              <a:spcBef>
                <a:spcPts val="1200"/>
              </a:spcBef>
              <a:spcAft>
                <a:spcPts val="0"/>
              </a:spcAft>
              <a:buNone/>
            </a:pPr>
            <a:r>
              <a:t/>
            </a:r>
            <a:endParaRPr/>
          </a:p>
        </p:txBody>
      </p:sp>
      <p:sp>
        <p:nvSpPr>
          <p:cNvPr id="315" name="Google Shape;315;p32"/>
          <p:cNvSpPr txBox="1"/>
          <p:nvPr/>
        </p:nvSpPr>
        <p:spPr>
          <a:xfrm>
            <a:off x="509225" y="862450"/>
            <a:ext cx="8158500" cy="80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316" name="Google Shape;316;p32"/>
          <p:cNvPicPr preferRelativeResize="0"/>
          <p:nvPr/>
        </p:nvPicPr>
        <p:blipFill>
          <a:blip r:embed="rId3">
            <a:alphaModFix/>
          </a:blip>
          <a:stretch>
            <a:fillRect/>
          </a:stretch>
        </p:blipFill>
        <p:spPr>
          <a:xfrm>
            <a:off x="152400" y="693950"/>
            <a:ext cx="4249650" cy="1659350"/>
          </a:xfrm>
          <a:prstGeom prst="rect">
            <a:avLst/>
          </a:prstGeom>
          <a:noFill/>
          <a:ln>
            <a:noFill/>
          </a:ln>
        </p:spPr>
      </p:pic>
      <p:pic>
        <p:nvPicPr>
          <p:cNvPr id="317" name="Google Shape;317;p32"/>
          <p:cNvPicPr preferRelativeResize="0"/>
          <p:nvPr/>
        </p:nvPicPr>
        <p:blipFill>
          <a:blip r:embed="rId4">
            <a:alphaModFix/>
          </a:blip>
          <a:stretch>
            <a:fillRect/>
          </a:stretch>
        </p:blipFill>
        <p:spPr>
          <a:xfrm>
            <a:off x="142049" y="2649875"/>
            <a:ext cx="4249651" cy="2144525"/>
          </a:xfrm>
          <a:prstGeom prst="rect">
            <a:avLst/>
          </a:prstGeom>
          <a:noFill/>
          <a:ln>
            <a:noFill/>
          </a:ln>
        </p:spPr>
      </p:pic>
      <p:sp>
        <p:nvSpPr>
          <p:cNvPr id="318" name="Google Shape;318;p32"/>
          <p:cNvSpPr txBox="1"/>
          <p:nvPr/>
        </p:nvSpPr>
        <p:spPr>
          <a:xfrm>
            <a:off x="4551293" y="3296718"/>
            <a:ext cx="4017300" cy="17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Kneser - Ney - (State of Art).</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a:solidFill>
                  <a:schemeClr val="dk2"/>
                </a:solidFill>
              </a:rPr>
              <a:t>Existen otros </a:t>
            </a:r>
            <a:r>
              <a:rPr lang="es" sz="1800">
                <a:solidFill>
                  <a:schemeClr val="dk2"/>
                </a:solidFill>
              </a:rPr>
              <a:t>métodos</a:t>
            </a:r>
            <a:r>
              <a:rPr lang="es" sz="1800">
                <a:solidFill>
                  <a:schemeClr val="dk2"/>
                </a:solidFill>
              </a:rPr>
              <a:t> de suavizado:</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Back-Off</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Método</a:t>
            </a:r>
            <a:r>
              <a:rPr lang="es" sz="1800">
                <a:solidFill>
                  <a:schemeClr val="dk2"/>
                </a:solidFill>
              </a:rPr>
              <a:t> del descuento absoluto</a:t>
            </a:r>
            <a:endParaRPr sz="1800">
              <a:solidFill>
                <a:schemeClr val="dk2"/>
              </a:solidFill>
            </a:endParaRPr>
          </a:p>
          <a:p>
            <a:pPr indent="0" lvl="0" marL="457200" rtl="0" algn="l">
              <a:spcBef>
                <a:spcPts val="0"/>
              </a:spcBef>
              <a:spcAft>
                <a:spcPts val="0"/>
              </a:spcAft>
              <a:buNone/>
            </a:pPr>
            <a:r>
              <a:t/>
            </a:r>
            <a:endParaRPr sz="1800">
              <a:solidFill>
                <a:schemeClr val="dk2"/>
              </a:solidFill>
            </a:endParaRPr>
          </a:p>
        </p:txBody>
      </p:sp>
      <p:pic>
        <p:nvPicPr>
          <p:cNvPr id="319" name="Google Shape;319;p32"/>
          <p:cNvPicPr preferRelativeResize="0"/>
          <p:nvPr/>
        </p:nvPicPr>
        <p:blipFill>
          <a:blip r:embed="rId5">
            <a:alphaModFix/>
          </a:blip>
          <a:stretch>
            <a:fillRect/>
          </a:stretch>
        </p:blipFill>
        <p:spPr>
          <a:xfrm>
            <a:off x="4402050" y="1110928"/>
            <a:ext cx="4679825" cy="1177637"/>
          </a:xfrm>
          <a:prstGeom prst="rect">
            <a:avLst/>
          </a:prstGeom>
          <a:noFill/>
          <a:ln>
            <a:noFill/>
          </a:ln>
        </p:spPr>
      </p:pic>
      <p:pic>
        <p:nvPicPr>
          <p:cNvPr id="320" name="Google Shape;320;p32"/>
          <p:cNvPicPr preferRelativeResize="0"/>
          <p:nvPr/>
        </p:nvPicPr>
        <p:blipFill>
          <a:blip r:embed="rId6">
            <a:alphaModFix/>
          </a:blip>
          <a:stretch>
            <a:fillRect/>
          </a:stretch>
        </p:blipFill>
        <p:spPr>
          <a:xfrm>
            <a:off x="4461275" y="2328778"/>
            <a:ext cx="1697143" cy="485934"/>
          </a:xfrm>
          <a:prstGeom prst="rect">
            <a:avLst/>
          </a:prstGeom>
          <a:noFill/>
          <a:ln>
            <a:noFill/>
          </a:ln>
        </p:spPr>
      </p:pic>
      <p:pic>
        <p:nvPicPr>
          <p:cNvPr id="321" name="Google Shape;321;p32"/>
          <p:cNvPicPr preferRelativeResize="0"/>
          <p:nvPr/>
        </p:nvPicPr>
        <p:blipFill>
          <a:blip r:embed="rId7">
            <a:alphaModFix/>
          </a:blip>
          <a:stretch>
            <a:fillRect/>
          </a:stretch>
        </p:blipFill>
        <p:spPr>
          <a:xfrm>
            <a:off x="6854074" y="2288574"/>
            <a:ext cx="1927400" cy="11353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Reconocedor de gramática finita.</a:t>
            </a:r>
            <a:endParaRPr sz="2600">
              <a:solidFill>
                <a:schemeClr val="dk2"/>
              </a:solidFill>
            </a:endParaRPr>
          </a:p>
          <a:p>
            <a:pPr indent="0" lvl="0" marL="0" rtl="0" algn="l">
              <a:spcBef>
                <a:spcPts val="1200"/>
              </a:spcBef>
              <a:spcAft>
                <a:spcPts val="0"/>
              </a:spcAft>
              <a:buNone/>
            </a:pPr>
            <a:r>
              <a:t/>
            </a:r>
            <a:endParaRPr/>
          </a:p>
        </p:txBody>
      </p:sp>
      <p:sp>
        <p:nvSpPr>
          <p:cNvPr id="327" name="Google Shape;327;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Hay tres tipos de  reconocimiento del habla.</a:t>
            </a:r>
            <a:endParaRPr/>
          </a:p>
          <a:p>
            <a:pPr indent="-342900" lvl="0" marL="457200" rtl="0" algn="l">
              <a:spcBef>
                <a:spcPts val="1200"/>
              </a:spcBef>
              <a:spcAft>
                <a:spcPts val="0"/>
              </a:spcAft>
              <a:buSzPts val="1800"/>
              <a:buChar char="●"/>
            </a:pPr>
            <a:r>
              <a:rPr b="1" lang="es"/>
              <a:t>Habla discreta</a:t>
            </a:r>
            <a:r>
              <a:rPr lang="es"/>
              <a:t>: Las W ser</a:t>
            </a:r>
            <a:r>
              <a:rPr lang="es"/>
              <a:t>án cada una de las palabras correspondiente al vocabulario, es decir, </a:t>
            </a:r>
            <a:r>
              <a:rPr i="1" lang="es"/>
              <a:t>W0=Yo, W1=Si, W3=No.</a:t>
            </a:r>
            <a:endParaRPr i="1"/>
          </a:p>
          <a:p>
            <a:pPr indent="-342900" lvl="0" marL="457200" rtl="0" algn="l">
              <a:spcBef>
                <a:spcPts val="0"/>
              </a:spcBef>
              <a:spcAft>
                <a:spcPts val="0"/>
              </a:spcAft>
              <a:buSzPts val="1800"/>
              <a:buChar char="●"/>
            </a:pPr>
            <a:r>
              <a:rPr b="1" lang="es"/>
              <a:t>Habla conectada</a:t>
            </a:r>
            <a:r>
              <a:rPr lang="es"/>
              <a:t>: En este caso W representan secuencias de palabras,</a:t>
            </a:r>
            <a:endParaRPr/>
          </a:p>
          <a:p>
            <a:pPr indent="0" lvl="0" marL="457200" rtl="0" algn="l">
              <a:spcBef>
                <a:spcPts val="1200"/>
              </a:spcBef>
              <a:spcAft>
                <a:spcPts val="0"/>
              </a:spcAft>
              <a:buNone/>
            </a:pPr>
            <a:r>
              <a:rPr i="1" lang="es"/>
              <a:t>W1={Yo,Si}, W2={Yo,No}, W3={No,No,No,No}, W4:{Si,No,No,Si,Si}</a:t>
            </a:r>
            <a:endParaRPr i="1"/>
          </a:p>
          <a:p>
            <a:pPr indent="-342900" lvl="0" marL="457200" rtl="0" algn="l">
              <a:spcBef>
                <a:spcPts val="1200"/>
              </a:spcBef>
              <a:spcAft>
                <a:spcPts val="0"/>
              </a:spcAft>
              <a:buSzPts val="1800"/>
              <a:buChar char="●"/>
            </a:pPr>
            <a:r>
              <a:rPr b="1" lang="es"/>
              <a:t>Gramática</a:t>
            </a:r>
            <a:r>
              <a:rPr b="1" lang="es"/>
              <a:t> finita</a:t>
            </a:r>
            <a:r>
              <a:rPr lang="es"/>
              <a:t>: Es un caso particular del de habla conectada en el que imponemos restricciones al modelo.</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Reconocedor de gramática finita.</a:t>
            </a:r>
            <a:endParaRPr sz="2600">
              <a:solidFill>
                <a:schemeClr val="dk2"/>
              </a:solidFill>
            </a:endParaRPr>
          </a:p>
          <a:p>
            <a:pPr indent="0" lvl="0" marL="0" rtl="0" algn="l">
              <a:spcBef>
                <a:spcPts val="1200"/>
              </a:spcBef>
              <a:spcAft>
                <a:spcPts val="0"/>
              </a:spcAft>
              <a:buNone/>
            </a:pPr>
            <a:r>
              <a:t/>
            </a:r>
            <a:endParaRPr/>
          </a:p>
        </p:txBody>
      </p:sp>
      <p:pic>
        <p:nvPicPr>
          <p:cNvPr id="333" name="Google Shape;333;p34"/>
          <p:cNvPicPr preferRelativeResize="0"/>
          <p:nvPr/>
        </p:nvPicPr>
        <p:blipFill>
          <a:blip r:embed="rId3">
            <a:alphaModFix/>
          </a:blip>
          <a:stretch>
            <a:fillRect/>
          </a:stretch>
        </p:blipFill>
        <p:spPr>
          <a:xfrm>
            <a:off x="339750" y="1017725"/>
            <a:ext cx="4994774" cy="3356424"/>
          </a:xfrm>
          <a:prstGeom prst="rect">
            <a:avLst/>
          </a:prstGeom>
          <a:noFill/>
          <a:ln>
            <a:noFill/>
          </a:ln>
        </p:spPr>
      </p:pic>
      <p:sp>
        <p:nvSpPr>
          <p:cNvPr id="334" name="Google Shape;334;p34"/>
          <p:cNvSpPr txBox="1"/>
          <p:nvPr/>
        </p:nvSpPr>
        <p:spPr>
          <a:xfrm>
            <a:off x="5634100" y="630450"/>
            <a:ext cx="3075000" cy="436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Vamos a modelar todas las palabras en un solo grafo.</a:t>
            </a:r>
            <a:endParaRPr sz="1800">
              <a:solidFill>
                <a:schemeClr val="dk2"/>
              </a:solidFill>
            </a:endParaRPr>
          </a:p>
          <a:p>
            <a:pPr indent="0" lvl="0" marL="0" rtl="0" algn="l">
              <a:spcBef>
                <a:spcPts val="0"/>
              </a:spcBef>
              <a:spcAft>
                <a:spcPts val="0"/>
              </a:spcAft>
              <a:buNone/>
            </a:pPr>
            <a:r>
              <a:rPr lang="es" sz="1800">
                <a:solidFill>
                  <a:schemeClr val="dk2"/>
                </a:solidFill>
              </a:rPr>
              <a:t>Ai luego se aplica viterbi a todo el grafo.</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a:solidFill>
                  <a:schemeClr val="dk2"/>
                </a:solidFill>
              </a:rPr>
              <a:t>Esto </a:t>
            </a:r>
            <a:r>
              <a:rPr lang="es" sz="1800">
                <a:solidFill>
                  <a:schemeClr val="dk2"/>
                </a:solidFill>
              </a:rPr>
              <a:t>está</a:t>
            </a:r>
            <a:r>
              <a:rPr lang="es" sz="1800">
                <a:solidFill>
                  <a:schemeClr val="dk2"/>
                </a:solidFill>
              </a:rPr>
              <a:t> muy bien pero </a:t>
            </a:r>
            <a:r>
              <a:rPr lang="es" sz="1800">
                <a:solidFill>
                  <a:schemeClr val="dk2"/>
                </a:solidFill>
              </a:rPr>
              <a:t>aún</a:t>
            </a:r>
            <a:r>
              <a:rPr lang="es" sz="1800">
                <a:solidFill>
                  <a:schemeClr val="dk2"/>
                </a:solidFill>
              </a:rPr>
              <a:t> hay problemas, van a haber palabras con poca probabilidad </a:t>
            </a:r>
            <a:r>
              <a:rPr lang="es" sz="1800">
                <a:solidFill>
                  <a:schemeClr val="dk2"/>
                </a:solidFill>
              </a:rPr>
              <a:t>según</a:t>
            </a:r>
            <a:r>
              <a:rPr lang="es" sz="1800">
                <a:solidFill>
                  <a:schemeClr val="dk2"/>
                </a:solidFill>
              </a:rPr>
              <a:t> ley de Zipf.</a:t>
            </a:r>
            <a:endParaRPr sz="1800">
              <a:solidFill>
                <a:schemeClr val="dk2"/>
              </a:solidFill>
            </a:endParaRPr>
          </a:p>
          <a:p>
            <a:pPr indent="0" lvl="0" marL="0" rtl="0" algn="l">
              <a:spcBef>
                <a:spcPts val="0"/>
              </a:spcBef>
              <a:spcAft>
                <a:spcPts val="0"/>
              </a:spcAft>
              <a:buNone/>
            </a:pPr>
            <a:r>
              <a:rPr lang="es" sz="1800">
                <a:solidFill>
                  <a:schemeClr val="dk2"/>
                </a:solidFill>
              </a:rPr>
              <a:t>SI queremos agregar una nueva palabra debe ser entrenada, etc.</a:t>
            </a:r>
            <a:endParaRPr sz="1800">
              <a:solidFill>
                <a:schemeClr val="dk2"/>
              </a:solidFill>
            </a:endParaRPr>
          </a:p>
          <a:p>
            <a:pPr indent="0" lvl="0" marL="0" rtl="0" algn="l">
              <a:spcBef>
                <a:spcPts val="0"/>
              </a:spcBef>
              <a:spcAft>
                <a:spcPts val="0"/>
              </a:spcAft>
              <a:buNone/>
            </a:pPr>
            <a:r>
              <a:rPr b="1" i="1" lang="es" sz="1800">
                <a:solidFill>
                  <a:srgbClr val="FF0000"/>
                </a:solidFill>
              </a:rPr>
              <a:t>No conviene implementar modelos de palabras</a:t>
            </a:r>
            <a:endParaRPr b="1" i="1" sz="1800">
              <a:solidFill>
                <a:srgbClr val="FF0000"/>
              </a:solidFill>
            </a:endParaRPr>
          </a:p>
        </p:txBody>
      </p:sp>
      <p:sp>
        <p:nvSpPr>
          <p:cNvPr id="335" name="Google Shape;335;p34"/>
          <p:cNvSpPr txBox="1"/>
          <p:nvPr/>
        </p:nvSpPr>
        <p:spPr>
          <a:xfrm>
            <a:off x="339750" y="4329859"/>
            <a:ext cx="5231400" cy="76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2"/>
                </a:solidFill>
              </a:rPr>
              <a:t>La unión entre el estado final de una palabra y el inicial de la siguiente se rige por la probabilidad de transición entre palabras (afg)</a:t>
            </a:r>
            <a:endParaRPr sz="12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Reconocedor de gramática finita.</a:t>
            </a:r>
            <a:endParaRPr sz="2600">
              <a:solidFill>
                <a:schemeClr val="dk2"/>
              </a:solidFill>
            </a:endParaRPr>
          </a:p>
          <a:p>
            <a:pPr indent="0" lvl="0" marL="0" rtl="0" algn="l">
              <a:spcBef>
                <a:spcPts val="1200"/>
              </a:spcBef>
              <a:spcAft>
                <a:spcPts val="0"/>
              </a:spcAft>
              <a:buNone/>
            </a:pPr>
            <a:r>
              <a:t/>
            </a:r>
            <a:endParaRPr/>
          </a:p>
        </p:txBody>
      </p:sp>
      <p:sp>
        <p:nvSpPr>
          <p:cNvPr id="341" name="Google Shape;341;p35"/>
          <p:cNvSpPr txBox="1"/>
          <p:nvPr>
            <p:ph idx="1" type="body"/>
          </p:nvPr>
        </p:nvSpPr>
        <p:spPr>
          <a:xfrm>
            <a:off x="4826525" y="1110925"/>
            <a:ext cx="4317600" cy="3603000"/>
          </a:xfrm>
          <a:prstGeom prst="rect">
            <a:avLst/>
          </a:prstGeom>
        </p:spPr>
        <p:txBody>
          <a:bodyPr anchorCtr="0" anchor="t" bIns="91425" lIns="91425" spcFirstLastPara="1" rIns="91425" wrap="square" tIns="91425">
            <a:normAutofit fontScale="92500" lnSpcReduction="10000"/>
          </a:bodyPr>
          <a:lstStyle/>
          <a:p>
            <a:pPr indent="-334328" lvl="0" marL="457200" rtl="0" algn="l">
              <a:spcBef>
                <a:spcPts val="0"/>
              </a:spcBef>
              <a:spcAft>
                <a:spcPts val="0"/>
              </a:spcAft>
              <a:buSzPct val="100000"/>
              <a:buChar char="●"/>
            </a:pPr>
            <a:r>
              <a:rPr lang="es"/>
              <a:t>Se propone modelizar su-unidades, usaremos Fonemas.</a:t>
            </a:r>
            <a:endParaRPr/>
          </a:p>
          <a:p>
            <a:pPr indent="-334328" lvl="0" marL="457200" rtl="0" algn="l">
              <a:spcBef>
                <a:spcPts val="0"/>
              </a:spcBef>
              <a:spcAft>
                <a:spcPts val="0"/>
              </a:spcAft>
              <a:buSzPct val="100000"/>
              <a:buChar char="●"/>
            </a:pPr>
            <a:r>
              <a:rPr lang="es"/>
              <a:t>Con Bakis de tres estados es suficiente para modelarlas (</a:t>
            </a:r>
            <a:r>
              <a:rPr b="1" lang="es"/>
              <a:t>eficiencia</a:t>
            </a:r>
            <a:r>
              <a:rPr lang="es"/>
              <a:t>).</a:t>
            </a:r>
            <a:endParaRPr/>
          </a:p>
          <a:p>
            <a:pPr indent="-334328" lvl="0" marL="457200" rtl="0" algn="l">
              <a:spcBef>
                <a:spcPts val="0"/>
              </a:spcBef>
              <a:spcAft>
                <a:spcPts val="0"/>
              </a:spcAft>
              <a:buSzPct val="100000"/>
              <a:buChar char="●"/>
            </a:pPr>
            <a:r>
              <a:rPr lang="es"/>
              <a:t>La cantidad de gaussianas por estados se </a:t>
            </a:r>
            <a:r>
              <a:rPr lang="es"/>
              <a:t>obtendrá</a:t>
            </a:r>
            <a:r>
              <a:rPr lang="es"/>
              <a:t> </a:t>
            </a:r>
            <a:r>
              <a:rPr lang="es"/>
              <a:t>empíricamente</a:t>
            </a:r>
            <a:r>
              <a:rPr lang="es"/>
              <a:t>.</a:t>
            </a:r>
            <a:endParaRPr/>
          </a:p>
          <a:p>
            <a:pPr indent="-334328" lvl="0" marL="457200" rtl="0" algn="l">
              <a:spcBef>
                <a:spcPts val="0"/>
              </a:spcBef>
              <a:spcAft>
                <a:spcPts val="0"/>
              </a:spcAft>
              <a:buSzPct val="100000"/>
              <a:buChar char="●"/>
            </a:pPr>
            <a:r>
              <a:rPr lang="es"/>
              <a:t>No existen fonemas “raros”.</a:t>
            </a:r>
            <a:endParaRPr/>
          </a:p>
          <a:p>
            <a:pPr indent="-334328" lvl="0" marL="457200" rtl="0" algn="l">
              <a:spcBef>
                <a:spcPts val="0"/>
              </a:spcBef>
              <a:spcAft>
                <a:spcPts val="0"/>
              </a:spcAft>
              <a:buSzPct val="100000"/>
              <a:buChar char="●"/>
            </a:pPr>
            <a:r>
              <a:rPr lang="es"/>
              <a:t>Se construye los HMM de palabras concatenando los HMM de fonemas.</a:t>
            </a:r>
            <a:endParaRPr/>
          </a:p>
          <a:p>
            <a:pPr indent="-334328" lvl="0" marL="457200" rtl="0" algn="l">
              <a:spcBef>
                <a:spcPts val="0"/>
              </a:spcBef>
              <a:spcAft>
                <a:spcPts val="0"/>
              </a:spcAft>
              <a:buSzPct val="100000"/>
              <a:buChar char="●"/>
            </a:pPr>
            <a:r>
              <a:rPr b="1" lang="es"/>
              <a:t>Se puede crear cualquier modelo de palabra</a:t>
            </a:r>
            <a:r>
              <a:rPr lang="es"/>
              <a:t>.</a:t>
            </a:r>
            <a:endParaRPr/>
          </a:p>
        </p:txBody>
      </p:sp>
      <p:pic>
        <p:nvPicPr>
          <p:cNvPr id="342" name="Google Shape;342;p35"/>
          <p:cNvPicPr preferRelativeResize="0"/>
          <p:nvPr/>
        </p:nvPicPr>
        <p:blipFill>
          <a:blip r:embed="rId3">
            <a:alphaModFix/>
          </a:blip>
          <a:stretch>
            <a:fillRect/>
          </a:stretch>
        </p:blipFill>
        <p:spPr>
          <a:xfrm>
            <a:off x="573125" y="1017725"/>
            <a:ext cx="4253389" cy="38209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6"/>
          <p:cNvSpPr txBox="1"/>
          <p:nvPr>
            <p:ph type="title"/>
          </p:nvPr>
        </p:nvSpPr>
        <p:spPr>
          <a:xfrm>
            <a:off x="251084" y="152832"/>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Reconocedor de gramática finita.</a:t>
            </a:r>
            <a:endParaRPr sz="2600">
              <a:solidFill>
                <a:schemeClr val="dk2"/>
              </a:solidFill>
            </a:endParaRPr>
          </a:p>
          <a:p>
            <a:pPr indent="0" lvl="0" marL="0" rtl="0" algn="l">
              <a:spcBef>
                <a:spcPts val="1200"/>
              </a:spcBef>
              <a:spcAft>
                <a:spcPts val="0"/>
              </a:spcAft>
              <a:buNone/>
            </a:pPr>
            <a:r>
              <a:t/>
            </a:r>
            <a:endParaRPr/>
          </a:p>
        </p:txBody>
      </p:sp>
      <p:pic>
        <p:nvPicPr>
          <p:cNvPr id="348" name="Google Shape;348;p36"/>
          <p:cNvPicPr preferRelativeResize="0"/>
          <p:nvPr/>
        </p:nvPicPr>
        <p:blipFill>
          <a:blip r:embed="rId3">
            <a:alphaModFix/>
          </a:blip>
          <a:stretch>
            <a:fillRect/>
          </a:stretch>
        </p:blipFill>
        <p:spPr>
          <a:xfrm>
            <a:off x="364275" y="704825"/>
            <a:ext cx="8314925" cy="43415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7"/>
          <p:cNvSpPr txBox="1"/>
          <p:nvPr>
            <p:ph type="title"/>
          </p:nvPr>
        </p:nvSpPr>
        <p:spPr>
          <a:xfrm>
            <a:off x="251084" y="152832"/>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Reconocedor de gramática finita - Inicializaci</a:t>
            </a:r>
            <a:r>
              <a:rPr lang="es" sz="2600">
                <a:solidFill>
                  <a:schemeClr val="dk2"/>
                </a:solidFill>
              </a:rPr>
              <a:t>ón</a:t>
            </a:r>
            <a:r>
              <a:rPr lang="es" sz="2600">
                <a:solidFill>
                  <a:schemeClr val="dk2"/>
                </a:solidFill>
              </a:rPr>
              <a:t> .</a:t>
            </a:r>
            <a:endParaRPr sz="2600">
              <a:solidFill>
                <a:schemeClr val="dk2"/>
              </a:solidFill>
            </a:endParaRPr>
          </a:p>
          <a:p>
            <a:pPr indent="0" lvl="0" marL="0" rtl="0" algn="l">
              <a:spcBef>
                <a:spcPts val="1200"/>
              </a:spcBef>
              <a:spcAft>
                <a:spcPts val="0"/>
              </a:spcAft>
              <a:buNone/>
            </a:pPr>
            <a:r>
              <a:t/>
            </a:r>
            <a:endParaRPr/>
          </a:p>
        </p:txBody>
      </p:sp>
      <p:pic>
        <p:nvPicPr>
          <p:cNvPr id="354" name="Google Shape;354;p37"/>
          <p:cNvPicPr preferRelativeResize="0"/>
          <p:nvPr/>
        </p:nvPicPr>
        <p:blipFill>
          <a:blip r:embed="rId3">
            <a:alphaModFix/>
          </a:blip>
          <a:stretch>
            <a:fillRect/>
          </a:stretch>
        </p:blipFill>
        <p:spPr>
          <a:xfrm>
            <a:off x="5924806" y="971137"/>
            <a:ext cx="2909274" cy="2753975"/>
          </a:xfrm>
          <a:prstGeom prst="rect">
            <a:avLst/>
          </a:prstGeom>
          <a:noFill/>
          <a:ln>
            <a:noFill/>
          </a:ln>
        </p:spPr>
      </p:pic>
      <p:sp>
        <p:nvSpPr>
          <p:cNvPr id="355" name="Google Shape;355;p37"/>
          <p:cNvSpPr txBox="1"/>
          <p:nvPr/>
        </p:nvSpPr>
        <p:spPr>
          <a:xfrm>
            <a:off x="353969" y="2851288"/>
            <a:ext cx="4875300" cy="1503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s" sz="1800">
                <a:solidFill>
                  <a:schemeClr val="dk2"/>
                </a:solidFill>
              </a:rPr>
              <a:t>5 estados (3+2)</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Inicialización</a:t>
            </a:r>
            <a:r>
              <a:rPr lang="es" sz="1800">
                <a:solidFill>
                  <a:schemeClr val="dk2"/>
                </a:solidFill>
              </a:rPr>
              <a:t> Flat star</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Manejo de silencios largo ‘sil’</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Short pause ‘sp’ </a:t>
            </a:r>
            <a:endParaRPr sz="1800">
              <a:solidFill>
                <a:schemeClr val="dk2"/>
              </a:solidFill>
            </a:endParaRPr>
          </a:p>
        </p:txBody>
      </p:sp>
      <p:pic>
        <p:nvPicPr>
          <p:cNvPr id="356" name="Google Shape;356;p37"/>
          <p:cNvPicPr preferRelativeResize="0"/>
          <p:nvPr/>
        </p:nvPicPr>
        <p:blipFill>
          <a:blip r:embed="rId4">
            <a:alphaModFix/>
          </a:blip>
          <a:stretch>
            <a:fillRect/>
          </a:stretch>
        </p:blipFill>
        <p:spPr>
          <a:xfrm>
            <a:off x="464475" y="829058"/>
            <a:ext cx="5553175" cy="17765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8"/>
          <p:cNvSpPr txBox="1"/>
          <p:nvPr>
            <p:ph type="title"/>
          </p:nvPr>
        </p:nvSpPr>
        <p:spPr>
          <a:xfrm>
            <a:off x="251084" y="152832"/>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Reconocedor de gramática finita.</a:t>
            </a:r>
            <a:endParaRPr sz="2600">
              <a:solidFill>
                <a:schemeClr val="dk2"/>
              </a:solidFill>
            </a:endParaRPr>
          </a:p>
          <a:p>
            <a:pPr indent="0" lvl="0" marL="0" rtl="0" algn="l">
              <a:spcBef>
                <a:spcPts val="1200"/>
              </a:spcBef>
              <a:spcAft>
                <a:spcPts val="0"/>
              </a:spcAft>
              <a:buNone/>
            </a:pPr>
            <a:r>
              <a:t/>
            </a:r>
            <a:endParaRPr/>
          </a:p>
        </p:txBody>
      </p:sp>
      <p:pic>
        <p:nvPicPr>
          <p:cNvPr id="362" name="Google Shape;362;p38"/>
          <p:cNvPicPr preferRelativeResize="0"/>
          <p:nvPr/>
        </p:nvPicPr>
        <p:blipFill>
          <a:blip r:embed="rId3">
            <a:alphaModFix/>
          </a:blip>
          <a:stretch>
            <a:fillRect/>
          </a:stretch>
        </p:blipFill>
        <p:spPr>
          <a:xfrm>
            <a:off x="369825" y="725525"/>
            <a:ext cx="3813925" cy="3562900"/>
          </a:xfrm>
          <a:prstGeom prst="rect">
            <a:avLst/>
          </a:prstGeom>
          <a:noFill/>
          <a:ln>
            <a:noFill/>
          </a:ln>
        </p:spPr>
      </p:pic>
      <p:pic>
        <p:nvPicPr>
          <p:cNvPr id="363" name="Google Shape;363;p38"/>
          <p:cNvPicPr preferRelativeResize="0"/>
          <p:nvPr/>
        </p:nvPicPr>
        <p:blipFill>
          <a:blip r:embed="rId4">
            <a:alphaModFix/>
          </a:blip>
          <a:stretch>
            <a:fillRect/>
          </a:stretch>
        </p:blipFill>
        <p:spPr>
          <a:xfrm>
            <a:off x="4362650" y="913287"/>
            <a:ext cx="4781351" cy="3271600"/>
          </a:xfrm>
          <a:prstGeom prst="rect">
            <a:avLst/>
          </a:prstGeom>
          <a:noFill/>
          <a:ln>
            <a:noFill/>
          </a:ln>
        </p:spPr>
      </p:pic>
      <p:pic>
        <p:nvPicPr>
          <p:cNvPr id="364" name="Google Shape;364;p38"/>
          <p:cNvPicPr preferRelativeResize="0"/>
          <p:nvPr/>
        </p:nvPicPr>
        <p:blipFill>
          <a:blip r:embed="rId5">
            <a:alphaModFix/>
          </a:blip>
          <a:stretch>
            <a:fillRect/>
          </a:stretch>
        </p:blipFill>
        <p:spPr>
          <a:xfrm>
            <a:off x="6895975" y="1252298"/>
            <a:ext cx="2043850" cy="1679850"/>
          </a:xfrm>
          <a:prstGeom prst="rect">
            <a:avLst/>
          </a:prstGeom>
          <a:noFill/>
          <a:ln>
            <a:noFill/>
          </a:ln>
        </p:spPr>
      </p:pic>
      <p:sp>
        <p:nvSpPr>
          <p:cNvPr id="365" name="Google Shape;365;p38"/>
          <p:cNvSpPr txBox="1"/>
          <p:nvPr/>
        </p:nvSpPr>
        <p:spPr>
          <a:xfrm>
            <a:off x="228803" y="4174549"/>
            <a:ext cx="8427600" cy="91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Si la gramática dice (llame | llamar) al &lt;$digit&gt;, la red prohíbe cualquier ruta que no siga ese orden exacto, reduciendo drásticamente el espacio de búsqueda para Viterbi comparado con el modelo de latino40</a:t>
            </a:r>
            <a:endParaRPr sz="18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9"/>
          <p:cNvSpPr txBox="1"/>
          <p:nvPr>
            <p:ph type="title"/>
          </p:nvPr>
        </p:nvSpPr>
        <p:spPr>
          <a:xfrm>
            <a:off x="251084" y="152832"/>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Reconocedor de gramática finita - Diccionario de palabras.</a:t>
            </a:r>
            <a:endParaRPr sz="2600">
              <a:solidFill>
                <a:schemeClr val="dk2"/>
              </a:solidFill>
            </a:endParaRPr>
          </a:p>
          <a:p>
            <a:pPr indent="0" lvl="0" marL="0" rtl="0" algn="l">
              <a:lnSpc>
                <a:spcPct val="115000"/>
              </a:lnSpc>
              <a:spcBef>
                <a:spcPts val="1200"/>
              </a:spcBef>
              <a:spcAft>
                <a:spcPts val="0"/>
              </a:spcAft>
              <a:buNone/>
            </a:pPr>
            <a:r>
              <a:rPr lang="es" sz="1900">
                <a:highlight>
                  <a:srgbClr val="FFFFFF"/>
                </a:highlight>
                <a:latin typeface="Courier New"/>
                <a:ea typeface="Courier New"/>
                <a:cs typeface="Courier New"/>
                <a:sym typeface="Courier New"/>
              </a:rPr>
              <a:t>      </a:t>
            </a:r>
            <a:endParaRPr sz="1900">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a:p>
        </p:txBody>
      </p:sp>
      <p:sp>
        <p:nvSpPr>
          <p:cNvPr id="371" name="Google Shape;371;p39"/>
          <p:cNvSpPr txBox="1"/>
          <p:nvPr/>
        </p:nvSpPr>
        <p:spPr>
          <a:xfrm>
            <a:off x="518650" y="3942075"/>
            <a:ext cx="8375700" cy="6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s" sz="1800">
                <a:solidFill>
                  <a:schemeClr val="dk2"/>
                </a:solidFill>
              </a:rPr>
              <a:t>HDMan -m -w wlist.gf -g global.ded -n</a:t>
            </a:r>
            <a:endParaRPr b="1" i="1" sz="1800">
              <a:solidFill>
                <a:schemeClr val="dk2"/>
              </a:solidFill>
            </a:endParaRPr>
          </a:p>
          <a:p>
            <a:pPr indent="0" lvl="0" marL="0" rtl="0" algn="l">
              <a:spcBef>
                <a:spcPts val="0"/>
              </a:spcBef>
              <a:spcAft>
                <a:spcPts val="0"/>
              </a:spcAft>
              <a:buNone/>
            </a:pPr>
            <a:r>
              <a:rPr b="1" i="1" lang="es" sz="1800">
                <a:solidFill>
                  <a:schemeClr val="dk2"/>
                </a:solidFill>
              </a:rPr>
              <a:t>monophones + sil -l ../ log / hdman_gf.log dict_gf lexicon lexicon . gf</a:t>
            </a:r>
            <a:endParaRPr b="1" i="1" sz="1800">
              <a:solidFill>
                <a:schemeClr val="dk2"/>
              </a:solidFill>
            </a:endParaRPr>
          </a:p>
        </p:txBody>
      </p:sp>
      <p:sp>
        <p:nvSpPr>
          <p:cNvPr id="372" name="Google Shape;372;p39"/>
          <p:cNvSpPr/>
          <p:nvPr/>
        </p:nvSpPr>
        <p:spPr>
          <a:xfrm>
            <a:off x="4107100" y="1632930"/>
            <a:ext cx="11988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3" name="Google Shape;373;p39"/>
          <p:cNvSpPr txBox="1"/>
          <p:nvPr/>
        </p:nvSpPr>
        <p:spPr>
          <a:xfrm>
            <a:off x="4230346" y="1749605"/>
            <a:ext cx="97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rPr>
              <a:t>HDMan</a:t>
            </a:r>
            <a:endParaRPr b="1" sz="1800">
              <a:solidFill>
                <a:schemeClr val="dk2"/>
              </a:solidFill>
            </a:endParaRPr>
          </a:p>
        </p:txBody>
      </p:sp>
      <p:sp>
        <p:nvSpPr>
          <p:cNvPr id="374" name="Google Shape;374;p39"/>
          <p:cNvSpPr/>
          <p:nvPr/>
        </p:nvSpPr>
        <p:spPr>
          <a:xfrm>
            <a:off x="5802225" y="1628562"/>
            <a:ext cx="11988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5" name="Google Shape;375;p39"/>
          <p:cNvSpPr txBox="1"/>
          <p:nvPr/>
        </p:nvSpPr>
        <p:spPr>
          <a:xfrm>
            <a:off x="5915025" y="1770312"/>
            <a:ext cx="97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rPr>
              <a:t>dict_gf</a:t>
            </a:r>
            <a:endParaRPr b="1" sz="1800">
              <a:solidFill>
                <a:schemeClr val="dk2"/>
              </a:solidFill>
            </a:endParaRPr>
          </a:p>
        </p:txBody>
      </p:sp>
      <p:sp>
        <p:nvSpPr>
          <p:cNvPr id="376" name="Google Shape;376;p39"/>
          <p:cNvSpPr/>
          <p:nvPr/>
        </p:nvSpPr>
        <p:spPr>
          <a:xfrm>
            <a:off x="2600260" y="2468275"/>
            <a:ext cx="11988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7" name="Google Shape;377;p39"/>
          <p:cNvSpPr txBox="1"/>
          <p:nvPr/>
        </p:nvSpPr>
        <p:spPr>
          <a:xfrm>
            <a:off x="2600260" y="2468267"/>
            <a:ext cx="1086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200">
                <a:solidFill>
                  <a:schemeClr val="dk2"/>
                </a:solidFill>
              </a:rPr>
              <a:t>Dicc. fuente</a:t>
            </a:r>
            <a:endParaRPr b="1" sz="1200">
              <a:solidFill>
                <a:schemeClr val="dk2"/>
              </a:solidFill>
            </a:endParaRPr>
          </a:p>
          <a:p>
            <a:pPr indent="0" lvl="0" marL="0" rtl="0" algn="l">
              <a:spcBef>
                <a:spcPts val="0"/>
              </a:spcBef>
              <a:spcAft>
                <a:spcPts val="0"/>
              </a:spcAft>
              <a:buNone/>
            </a:pPr>
            <a:r>
              <a:rPr b="1" lang="es" sz="1800">
                <a:solidFill>
                  <a:schemeClr val="dk2"/>
                </a:solidFill>
              </a:rPr>
              <a:t>lexicon*</a:t>
            </a:r>
            <a:endParaRPr b="1" sz="1800">
              <a:solidFill>
                <a:schemeClr val="dk2"/>
              </a:solidFill>
            </a:endParaRPr>
          </a:p>
        </p:txBody>
      </p:sp>
      <p:sp>
        <p:nvSpPr>
          <p:cNvPr id="378" name="Google Shape;378;p39"/>
          <p:cNvSpPr/>
          <p:nvPr/>
        </p:nvSpPr>
        <p:spPr>
          <a:xfrm>
            <a:off x="2403551" y="725525"/>
            <a:ext cx="14226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9" name="Google Shape;379;p39"/>
          <p:cNvSpPr txBox="1"/>
          <p:nvPr/>
        </p:nvSpPr>
        <p:spPr>
          <a:xfrm>
            <a:off x="2403601" y="867275"/>
            <a:ext cx="1422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rPr>
              <a:t>global.ded</a:t>
            </a:r>
            <a:endParaRPr b="1" sz="1800">
              <a:solidFill>
                <a:schemeClr val="dk2"/>
              </a:solidFill>
            </a:endParaRPr>
          </a:p>
        </p:txBody>
      </p:sp>
      <p:sp>
        <p:nvSpPr>
          <p:cNvPr id="380" name="Google Shape;380;p39"/>
          <p:cNvSpPr/>
          <p:nvPr/>
        </p:nvSpPr>
        <p:spPr>
          <a:xfrm>
            <a:off x="2600260" y="1627850"/>
            <a:ext cx="11988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1" name="Google Shape;381;p39"/>
          <p:cNvSpPr txBox="1"/>
          <p:nvPr/>
        </p:nvSpPr>
        <p:spPr>
          <a:xfrm>
            <a:off x="2713060" y="1769600"/>
            <a:ext cx="97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rPr>
              <a:t>wlist.gf</a:t>
            </a:r>
            <a:endParaRPr b="1" sz="1800">
              <a:solidFill>
                <a:schemeClr val="dk2"/>
              </a:solidFill>
            </a:endParaRPr>
          </a:p>
        </p:txBody>
      </p:sp>
      <p:pic>
        <p:nvPicPr>
          <p:cNvPr id="382" name="Google Shape;382;p39"/>
          <p:cNvPicPr preferRelativeResize="0"/>
          <p:nvPr/>
        </p:nvPicPr>
        <p:blipFill>
          <a:blip r:embed="rId4">
            <a:alphaModFix/>
          </a:blip>
          <a:stretch>
            <a:fillRect/>
          </a:stretch>
        </p:blipFill>
        <p:spPr>
          <a:xfrm>
            <a:off x="251075" y="2608788"/>
            <a:ext cx="779828" cy="522535"/>
          </a:xfrm>
          <a:prstGeom prst="rect">
            <a:avLst/>
          </a:prstGeom>
          <a:noFill/>
          <a:ln>
            <a:noFill/>
          </a:ln>
        </p:spPr>
      </p:pic>
      <p:pic>
        <p:nvPicPr>
          <p:cNvPr id="383" name="Google Shape;383;p39"/>
          <p:cNvPicPr preferRelativeResize="0"/>
          <p:nvPr/>
        </p:nvPicPr>
        <p:blipFill>
          <a:blip r:embed="rId5">
            <a:alphaModFix/>
          </a:blip>
          <a:stretch>
            <a:fillRect/>
          </a:stretch>
        </p:blipFill>
        <p:spPr>
          <a:xfrm>
            <a:off x="1103953" y="2633268"/>
            <a:ext cx="1496297" cy="522520"/>
          </a:xfrm>
          <a:prstGeom prst="rect">
            <a:avLst/>
          </a:prstGeom>
          <a:noFill/>
          <a:ln>
            <a:noFill/>
          </a:ln>
        </p:spPr>
      </p:pic>
      <p:pic>
        <p:nvPicPr>
          <p:cNvPr id="384" name="Google Shape;384;p39"/>
          <p:cNvPicPr preferRelativeResize="0"/>
          <p:nvPr/>
        </p:nvPicPr>
        <p:blipFill>
          <a:blip r:embed="rId6">
            <a:alphaModFix/>
          </a:blip>
          <a:stretch>
            <a:fillRect/>
          </a:stretch>
        </p:blipFill>
        <p:spPr>
          <a:xfrm>
            <a:off x="5281307" y="2561918"/>
            <a:ext cx="3819375" cy="978950"/>
          </a:xfrm>
          <a:prstGeom prst="rect">
            <a:avLst/>
          </a:prstGeom>
          <a:noFill/>
          <a:ln>
            <a:noFill/>
          </a:ln>
        </p:spPr>
      </p:pic>
      <p:pic>
        <p:nvPicPr>
          <p:cNvPr id="385" name="Google Shape;385;p39"/>
          <p:cNvPicPr preferRelativeResize="0"/>
          <p:nvPr/>
        </p:nvPicPr>
        <p:blipFill>
          <a:blip r:embed="rId7">
            <a:alphaModFix/>
          </a:blip>
          <a:stretch>
            <a:fillRect/>
          </a:stretch>
        </p:blipFill>
        <p:spPr>
          <a:xfrm>
            <a:off x="841551" y="917157"/>
            <a:ext cx="1057275" cy="361950"/>
          </a:xfrm>
          <a:prstGeom prst="rect">
            <a:avLst/>
          </a:prstGeom>
          <a:noFill/>
          <a:ln>
            <a:noFill/>
          </a:ln>
        </p:spPr>
      </p:pic>
      <p:cxnSp>
        <p:nvCxnSpPr>
          <p:cNvPr id="386" name="Google Shape;386;p39"/>
          <p:cNvCxnSpPr>
            <a:stCxn id="372" idx="3"/>
            <a:endCxn id="374" idx="1"/>
          </p:cNvCxnSpPr>
          <p:nvPr/>
        </p:nvCxnSpPr>
        <p:spPr>
          <a:xfrm flipH="1" rot="10800000">
            <a:off x="5305900" y="2001030"/>
            <a:ext cx="496200" cy="4500"/>
          </a:xfrm>
          <a:prstGeom prst="straightConnector1">
            <a:avLst/>
          </a:prstGeom>
          <a:noFill/>
          <a:ln cap="flat" cmpd="sng" w="28575">
            <a:solidFill>
              <a:schemeClr val="dk2"/>
            </a:solidFill>
            <a:prstDash val="solid"/>
            <a:round/>
            <a:headEnd len="med" w="med" type="none"/>
            <a:tailEnd len="med" w="med" type="triangle"/>
          </a:ln>
        </p:spPr>
      </p:cxnSp>
      <p:cxnSp>
        <p:nvCxnSpPr>
          <p:cNvPr id="387" name="Google Shape;387;p39"/>
          <p:cNvCxnSpPr>
            <a:stCxn id="379" idx="3"/>
            <a:endCxn id="372" idx="1"/>
          </p:cNvCxnSpPr>
          <p:nvPr/>
        </p:nvCxnSpPr>
        <p:spPr>
          <a:xfrm>
            <a:off x="3826201" y="1098125"/>
            <a:ext cx="280800" cy="907500"/>
          </a:xfrm>
          <a:prstGeom prst="bentConnector3">
            <a:avLst>
              <a:gd fmla="val 50018" name="adj1"/>
            </a:avLst>
          </a:prstGeom>
          <a:noFill/>
          <a:ln cap="flat" cmpd="sng" w="28575">
            <a:solidFill>
              <a:schemeClr val="dk2"/>
            </a:solidFill>
            <a:prstDash val="solid"/>
            <a:round/>
            <a:headEnd len="med" w="med" type="none"/>
            <a:tailEnd len="med" w="med" type="none"/>
          </a:ln>
        </p:spPr>
      </p:cxnSp>
      <p:cxnSp>
        <p:nvCxnSpPr>
          <p:cNvPr id="388" name="Google Shape;388;p39"/>
          <p:cNvCxnSpPr>
            <a:stCxn id="380" idx="3"/>
            <a:endCxn id="372" idx="1"/>
          </p:cNvCxnSpPr>
          <p:nvPr/>
        </p:nvCxnSpPr>
        <p:spPr>
          <a:xfrm>
            <a:off x="3799060" y="2000450"/>
            <a:ext cx="308100" cy="5100"/>
          </a:xfrm>
          <a:prstGeom prst="bentConnector3">
            <a:avLst>
              <a:gd fmla="val 49990" name="adj1"/>
            </a:avLst>
          </a:prstGeom>
          <a:noFill/>
          <a:ln cap="flat" cmpd="sng" w="28575">
            <a:solidFill>
              <a:schemeClr val="dk2"/>
            </a:solidFill>
            <a:prstDash val="solid"/>
            <a:round/>
            <a:headEnd len="med" w="med" type="none"/>
            <a:tailEnd len="med" w="med" type="none"/>
          </a:ln>
        </p:spPr>
      </p:cxnSp>
      <p:cxnSp>
        <p:nvCxnSpPr>
          <p:cNvPr id="389" name="Google Shape;389;p39"/>
          <p:cNvCxnSpPr>
            <a:stCxn id="376" idx="3"/>
            <a:endCxn id="372" idx="1"/>
          </p:cNvCxnSpPr>
          <p:nvPr/>
        </p:nvCxnSpPr>
        <p:spPr>
          <a:xfrm flipH="1" rot="10800000">
            <a:off x="3799060" y="2005675"/>
            <a:ext cx="308100" cy="835200"/>
          </a:xfrm>
          <a:prstGeom prst="bentConnector3">
            <a:avLst>
              <a:gd fmla="val 49990" name="adj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0"/>
          <p:cNvSpPr txBox="1"/>
          <p:nvPr>
            <p:ph type="title"/>
          </p:nvPr>
        </p:nvSpPr>
        <p:spPr>
          <a:xfrm>
            <a:off x="251084" y="152832"/>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Reconocedor de gramática finita - MFCC.</a:t>
            </a:r>
            <a:endParaRPr sz="2600">
              <a:solidFill>
                <a:schemeClr val="dk2"/>
              </a:solidFill>
            </a:endParaRPr>
          </a:p>
          <a:p>
            <a:pPr indent="0" lvl="0" marL="0" rtl="0" algn="l">
              <a:lnSpc>
                <a:spcPct val="115000"/>
              </a:lnSpc>
              <a:spcBef>
                <a:spcPts val="1200"/>
              </a:spcBef>
              <a:spcAft>
                <a:spcPts val="0"/>
              </a:spcAft>
              <a:buNone/>
            </a:pPr>
            <a:r>
              <a:rPr lang="es" sz="1900">
                <a:highlight>
                  <a:srgbClr val="FFFFFF"/>
                </a:highlight>
                <a:latin typeface="Courier New"/>
                <a:ea typeface="Courier New"/>
                <a:cs typeface="Courier New"/>
                <a:sym typeface="Courier New"/>
              </a:rPr>
              <a:t>      </a:t>
            </a:r>
            <a:endParaRPr/>
          </a:p>
        </p:txBody>
      </p:sp>
      <p:sp>
        <p:nvSpPr>
          <p:cNvPr id="395" name="Google Shape;395;p40"/>
          <p:cNvSpPr txBox="1"/>
          <p:nvPr/>
        </p:nvSpPr>
        <p:spPr>
          <a:xfrm>
            <a:off x="518650" y="4159493"/>
            <a:ext cx="8375700" cy="6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s" sz="1800">
                <a:solidFill>
                  <a:schemeClr val="dk2"/>
                </a:solidFill>
              </a:rPr>
              <a:t>HCopy -T 1 -C ../config/config_gf.hcopy -S genmfc_gf.test</a:t>
            </a:r>
            <a:endParaRPr b="1" i="1" sz="1800">
              <a:solidFill>
                <a:schemeClr val="dk2"/>
              </a:solidFill>
            </a:endParaRPr>
          </a:p>
        </p:txBody>
      </p:sp>
      <p:sp>
        <p:nvSpPr>
          <p:cNvPr id="396" name="Google Shape;396;p40"/>
          <p:cNvSpPr/>
          <p:nvPr/>
        </p:nvSpPr>
        <p:spPr>
          <a:xfrm>
            <a:off x="4752500" y="1472092"/>
            <a:ext cx="11988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7" name="Google Shape;397;p40"/>
          <p:cNvSpPr txBox="1"/>
          <p:nvPr/>
        </p:nvSpPr>
        <p:spPr>
          <a:xfrm>
            <a:off x="4875746" y="1588767"/>
            <a:ext cx="97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rPr>
              <a:t>HCopy</a:t>
            </a:r>
            <a:endParaRPr b="1" sz="1800">
              <a:solidFill>
                <a:schemeClr val="dk2"/>
              </a:solidFill>
            </a:endParaRPr>
          </a:p>
        </p:txBody>
      </p:sp>
      <p:sp>
        <p:nvSpPr>
          <p:cNvPr id="398" name="Google Shape;398;p40"/>
          <p:cNvSpPr/>
          <p:nvPr/>
        </p:nvSpPr>
        <p:spPr>
          <a:xfrm>
            <a:off x="935577" y="809942"/>
            <a:ext cx="24123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9" name="Google Shape;399;p40"/>
          <p:cNvSpPr txBox="1"/>
          <p:nvPr/>
        </p:nvSpPr>
        <p:spPr>
          <a:xfrm>
            <a:off x="1110002" y="951692"/>
            <a:ext cx="2142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rPr>
              <a:t>config_</a:t>
            </a:r>
            <a:r>
              <a:rPr b="1" lang="es" sz="1800">
                <a:solidFill>
                  <a:schemeClr val="dk2"/>
                </a:solidFill>
              </a:rPr>
              <a:t>gf.hcopy</a:t>
            </a:r>
            <a:endParaRPr b="1" sz="1800">
              <a:solidFill>
                <a:schemeClr val="dk2"/>
              </a:solidFill>
            </a:endParaRPr>
          </a:p>
        </p:txBody>
      </p:sp>
      <p:cxnSp>
        <p:nvCxnSpPr>
          <p:cNvPr id="400" name="Google Shape;400;p40"/>
          <p:cNvCxnSpPr>
            <a:stCxn id="396" idx="3"/>
            <a:endCxn id="401" idx="1"/>
          </p:cNvCxnSpPr>
          <p:nvPr/>
        </p:nvCxnSpPr>
        <p:spPr>
          <a:xfrm>
            <a:off x="5951300" y="1844692"/>
            <a:ext cx="713700" cy="0"/>
          </a:xfrm>
          <a:prstGeom prst="straightConnector1">
            <a:avLst/>
          </a:prstGeom>
          <a:noFill/>
          <a:ln cap="flat" cmpd="sng" w="28575">
            <a:solidFill>
              <a:schemeClr val="dk2"/>
            </a:solidFill>
            <a:prstDash val="solid"/>
            <a:round/>
            <a:headEnd len="med" w="med" type="none"/>
            <a:tailEnd len="med" w="med" type="triangle"/>
          </a:ln>
        </p:spPr>
      </p:cxnSp>
      <p:cxnSp>
        <p:nvCxnSpPr>
          <p:cNvPr id="402" name="Google Shape;402;p40"/>
          <p:cNvCxnSpPr>
            <a:stCxn id="398" idx="3"/>
            <a:endCxn id="396" idx="1"/>
          </p:cNvCxnSpPr>
          <p:nvPr/>
        </p:nvCxnSpPr>
        <p:spPr>
          <a:xfrm>
            <a:off x="3347877" y="1182542"/>
            <a:ext cx="1404600" cy="662100"/>
          </a:xfrm>
          <a:prstGeom prst="bentConnector3">
            <a:avLst>
              <a:gd fmla="val 49995" name="adj1"/>
            </a:avLst>
          </a:prstGeom>
          <a:noFill/>
          <a:ln cap="flat" cmpd="sng" w="28575">
            <a:solidFill>
              <a:schemeClr val="dk2"/>
            </a:solidFill>
            <a:prstDash val="solid"/>
            <a:round/>
            <a:headEnd len="med" w="med" type="none"/>
            <a:tailEnd len="med" w="med" type="none"/>
          </a:ln>
        </p:spPr>
      </p:cxnSp>
      <p:pic>
        <p:nvPicPr>
          <p:cNvPr id="403" name="Google Shape;403;p40"/>
          <p:cNvPicPr preferRelativeResize="0"/>
          <p:nvPr/>
        </p:nvPicPr>
        <p:blipFill>
          <a:blip r:embed="rId4">
            <a:alphaModFix/>
          </a:blip>
          <a:stretch>
            <a:fillRect/>
          </a:stretch>
        </p:blipFill>
        <p:spPr>
          <a:xfrm>
            <a:off x="4938614" y="2675429"/>
            <a:ext cx="3957301" cy="1211361"/>
          </a:xfrm>
          <a:prstGeom prst="rect">
            <a:avLst/>
          </a:prstGeom>
          <a:noFill/>
          <a:ln>
            <a:noFill/>
          </a:ln>
        </p:spPr>
      </p:pic>
      <p:sp>
        <p:nvSpPr>
          <p:cNvPr id="404" name="Google Shape;404;p40"/>
          <p:cNvSpPr/>
          <p:nvPr/>
        </p:nvSpPr>
        <p:spPr>
          <a:xfrm>
            <a:off x="1193160" y="1872362"/>
            <a:ext cx="18216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5" name="Google Shape;405;p40"/>
          <p:cNvSpPr txBox="1"/>
          <p:nvPr/>
        </p:nvSpPr>
        <p:spPr>
          <a:xfrm>
            <a:off x="1305960" y="2014112"/>
            <a:ext cx="1656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rPr>
              <a:t>genmfc_gf.*</a:t>
            </a:r>
            <a:endParaRPr b="1" sz="1800">
              <a:solidFill>
                <a:schemeClr val="dk2"/>
              </a:solidFill>
            </a:endParaRPr>
          </a:p>
        </p:txBody>
      </p:sp>
      <p:cxnSp>
        <p:nvCxnSpPr>
          <p:cNvPr id="406" name="Google Shape;406;p40"/>
          <p:cNvCxnSpPr>
            <a:stCxn id="404" idx="3"/>
            <a:endCxn id="396" idx="1"/>
          </p:cNvCxnSpPr>
          <p:nvPr/>
        </p:nvCxnSpPr>
        <p:spPr>
          <a:xfrm flipH="1" rot="10800000">
            <a:off x="3014760" y="1844762"/>
            <a:ext cx="1737600" cy="400200"/>
          </a:xfrm>
          <a:prstGeom prst="bentConnector3">
            <a:avLst>
              <a:gd fmla="val 59349" name="adj1"/>
            </a:avLst>
          </a:prstGeom>
          <a:noFill/>
          <a:ln cap="flat" cmpd="sng" w="28575">
            <a:solidFill>
              <a:schemeClr val="dk2"/>
            </a:solidFill>
            <a:prstDash val="solid"/>
            <a:round/>
            <a:headEnd len="med" w="med" type="none"/>
            <a:tailEnd len="med" w="med" type="none"/>
          </a:ln>
        </p:spPr>
      </p:cxnSp>
      <p:pic>
        <p:nvPicPr>
          <p:cNvPr id="407" name="Google Shape;407;p40"/>
          <p:cNvPicPr preferRelativeResize="0"/>
          <p:nvPr/>
        </p:nvPicPr>
        <p:blipFill>
          <a:blip r:embed="rId5">
            <a:alphaModFix/>
          </a:blip>
          <a:stretch>
            <a:fillRect/>
          </a:stretch>
        </p:blipFill>
        <p:spPr>
          <a:xfrm>
            <a:off x="820325" y="2683116"/>
            <a:ext cx="3957300" cy="1201284"/>
          </a:xfrm>
          <a:prstGeom prst="rect">
            <a:avLst/>
          </a:prstGeom>
          <a:noFill/>
          <a:ln>
            <a:noFill/>
          </a:ln>
        </p:spPr>
      </p:pic>
      <p:sp>
        <p:nvSpPr>
          <p:cNvPr id="401" name="Google Shape;401;p40"/>
          <p:cNvSpPr/>
          <p:nvPr/>
        </p:nvSpPr>
        <p:spPr>
          <a:xfrm>
            <a:off x="6664947" y="1472092"/>
            <a:ext cx="11988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8" name="Google Shape;408;p40"/>
          <p:cNvSpPr txBox="1"/>
          <p:nvPr/>
        </p:nvSpPr>
        <p:spPr>
          <a:xfrm>
            <a:off x="6798546" y="1588767"/>
            <a:ext cx="9732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chemeClr val="dk2"/>
                </a:solidFill>
              </a:rPr>
              <a:t>Archivos</a:t>
            </a:r>
            <a:endParaRPr b="1" sz="1100">
              <a:solidFill>
                <a:schemeClr val="dk2"/>
              </a:solidFill>
            </a:endParaRPr>
          </a:p>
          <a:p>
            <a:pPr indent="0" lvl="0" marL="0" rtl="0" algn="l">
              <a:spcBef>
                <a:spcPts val="0"/>
              </a:spcBef>
              <a:spcAft>
                <a:spcPts val="0"/>
              </a:spcAft>
              <a:buNone/>
            </a:pPr>
            <a:r>
              <a:rPr b="1" lang="es" sz="1800">
                <a:solidFill>
                  <a:schemeClr val="dk2"/>
                </a:solidFill>
              </a:rPr>
              <a:t>MFCC </a:t>
            </a:r>
            <a:endParaRPr b="1" sz="180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1"/>
          <p:cNvSpPr txBox="1"/>
          <p:nvPr>
            <p:ph type="title"/>
          </p:nvPr>
        </p:nvSpPr>
        <p:spPr>
          <a:xfrm>
            <a:off x="251084" y="152832"/>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Reconocedor de gramática finita - Entrenamiento.</a:t>
            </a:r>
            <a:endParaRPr sz="2600">
              <a:solidFill>
                <a:schemeClr val="dk2"/>
              </a:solidFill>
            </a:endParaRPr>
          </a:p>
          <a:p>
            <a:pPr indent="0" lvl="0" marL="0" rtl="0" algn="l">
              <a:lnSpc>
                <a:spcPct val="115000"/>
              </a:lnSpc>
              <a:spcBef>
                <a:spcPts val="1200"/>
              </a:spcBef>
              <a:spcAft>
                <a:spcPts val="0"/>
              </a:spcAft>
              <a:buNone/>
            </a:pPr>
            <a:r>
              <a:rPr lang="es" sz="1900">
                <a:highlight>
                  <a:srgbClr val="FFFFFF"/>
                </a:highlight>
                <a:latin typeface="Courier New"/>
                <a:ea typeface="Courier New"/>
                <a:cs typeface="Courier New"/>
                <a:sym typeface="Courier New"/>
              </a:rPr>
              <a:t>      </a:t>
            </a:r>
            <a:endParaRPr/>
          </a:p>
        </p:txBody>
      </p:sp>
      <p:sp>
        <p:nvSpPr>
          <p:cNvPr id="414" name="Google Shape;414;p41"/>
          <p:cNvSpPr/>
          <p:nvPr/>
        </p:nvSpPr>
        <p:spPr>
          <a:xfrm>
            <a:off x="4714772" y="2434945"/>
            <a:ext cx="15093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5" name="Google Shape;415;p41"/>
          <p:cNvSpPr txBox="1"/>
          <p:nvPr/>
        </p:nvSpPr>
        <p:spPr>
          <a:xfrm>
            <a:off x="4920398" y="2551620"/>
            <a:ext cx="1071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rPr>
              <a:t>HERest</a:t>
            </a:r>
            <a:endParaRPr b="1" sz="1800">
              <a:solidFill>
                <a:schemeClr val="dk2"/>
              </a:solidFill>
            </a:endParaRPr>
          </a:p>
        </p:txBody>
      </p:sp>
      <p:sp>
        <p:nvSpPr>
          <p:cNvPr id="416" name="Google Shape;416;p41"/>
          <p:cNvSpPr/>
          <p:nvPr/>
        </p:nvSpPr>
        <p:spPr>
          <a:xfrm>
            <a:off x="2177982" y="2499838"/>
            <a:ext cx="1354200" cy="631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7" name="Google Shape;417;p41"/>
          <p:cNvSpPr txBox="1"/>
          <p:nvPr/>
        </p:nvSpPr>
        <p:spPr>
          <a:xfrm>
            <a:off x="2377832" y="2488616"/>
            <a:ext cx="9486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chemeClr val="dk2"/>
                </a:solidFill>
              </a:rPr>
              <a:t>modelo</a:t>
            </a:r>
            <a:endParaRPr b="1" sz="1100">
              <a:solidFill>
                <a:schemeClr val="dk2"/>
              </a:solidFill>
            </a:endParaRPr>
          </a:p>
          <a:p>
            <a:pPr indent="0" lvl="0" marL="0" rtl="0" algn="l">
              <a:spcBef>
                <a:spcPts val="0"/>
              </a:spcBef>
              <a:spcAft>
                <a:spcPts val="0"/>
              </a:spcAft>
              <a:buClr>
                <a:schemeClr val="dk1"/>
              </a:buClr>
              <a:buSzPts val="1100"/>
              <a:buFont typeface="Arial"/>
              <a:buNone/>
            </a:pPr>
            <a:r>
              <a:rPr b="1" lang="es" sz="1800">
                <a:solidFill>
                  <a:schemeClr val="dk2"/>
                </a:solidFill>
              </a:rPr>
              <a:t>HMM i</a:t>
            </a:r>
            <a:endParaRPr b="1" sz="1800">
              <a:solidFill>
                <a:schemeClr val="dk2"/>
              </a:solidFill>
            </a:endParaRPr>
          </a:p>
        </p:txBody>
      </p:sp>
      <p:cxnSp>
        <p:nvCxnSpPr>
          <p:cNvPr id="418" name="Google Shape;418;p41"/>
          <p:cNvCxnSpPr>
            <a:stCxn id="414" idx="3"/>
            <a:endCxn id="419" idx="1"/>
          </p:cNvCxnSpPr>
          <p:nvPr/>
        </p:nvCxnSpPr>
        <p:spPr>
          <a:xfrm>
            <a:off x="6224072" y="2807545"/>
            <a:ext cx="728700" cy="0"/>
          </a:xfrm>
          <a:prstGeom prst="straightConnector1">
            <a:avLst/>
          </a:prstGeom>
          <a:noFill/>
          <a:ln cap="flat" cmpd="sng" w="28575">
            <a:solidFill>
              <a:schemeClr val="dk2"/>
            </a:solidFill>
            <a:prstDash val="solid"/>
            <a:round/>
            <a:headEnd len="med" w="med" type="none"/>
            <a:tailEnd len="med" w="med" type="triangle"/>
          </a:ln>
        </p:spPr>
      </p:cxnSp>
      <p:cxnSp>
        <p:nvCxnSpPr>
          <p:cNvPr id="420" name="Google Shape;420;p41"/>
          <p:cNvCxnSpPr>
            <a:stCxn id="416" idx="3"/>
            <a:endCxn id="414" idx="1"/>
          </p:cNvCxnSpPr>
          <p:nvPr/>
        </p:nvCxnSpPr>
        <p:spPr>
          <a:xfrm flipH="1" rot="10800000">
            <a:off x="3532182" y="2807638"/>
            <a:ext cx="1182600" cy="7800"/>
          </a:xfrm>
          <a:prstGeom prst="bentConnector3">
            <a:avLst>
              <a:gd fmla="val 50000" name="adj1"/>
            </a:avLst>
          </a:prstGeom>
          <a:noFill/>
          <a:ln cap="flat" cmpd="sng" w="28575">
            <a:solidFill>
              <a:schemeClr val="dk2"/>
            </a:solidFill>
            <a:prstDash val="solid"/>
            <a:round/>
            <a:headEnd len="med" w="med" type="none"/>
            <a:tailEnd len="med" w="med" type="none"/>
          </a:ln>
        </p:spPr>
      </p:cxnSp>
      <p:sp>
        <p:nvSpPr>
          <p:cNvPr id="421" name="Google Shape;421;p41"/>
          <p:cNvSpPr/>
          <p:nvPr/>
        </p:nvSpPr>
        <p:spPr>
          <a:xfrm>
            <a:off x="1719007" y="3497813"/>
            <a:ext cx="1821600" cy="8808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2" name="Google Shape;422;p41"/>
          <p:cNvSpPr txBox="1"/>
          <p:nvPr/>
        </p:nvSpPr>
        <p:spPr>
          <a:xfrm>
            <a:off x="1831803" y="3587799"/>
            <a:ext cx="1656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rPr>
              <a:t>MLF a nivel fonemas</a:t>
            </a:r>
            <a:endParaRPr b="1" sz="1800">
              <a:solidFill>
                <a:schemeClr val="dk2"/>
              </a:solidFill>
            </a:endParaRPr>
          </a:p>
        </p:txBody>
      </p:sp>
      <p:cxnSp>
        <p:nvCxnSpPr>
          <p:cNvPr id="423" name="Google Shape;423;p41"/>
          <p:cNvCxnSpPr>
            <a:stCxn id="421" idx="3"/>
            <a:endCxn id="414" idx="1"/>
          </p:cNvCxnSpPr>
          <p:nvPr/>
        </p:nvCxnSpPr>
        <p:spPr>
          <a:xfrm flipH="1" rot="10800000">
            <a:off x="3540607" y="2807513"/>
            <a:ext cx="1174200" cy="1130700"/>
          </a:xfrm>
          <a:prstGeom prst="bentConnector3">
            <a:avLst>
              <a:gd fmla="val 49999" name="adj1"/>
            </a:avLst>
          </a:prstGeom>
          <a:noFill/>
          <a:ln cap="flat" cmpd="sng" w="28575">
            <a:solidFill>
              <a:schemeClr val="dk2"/>
            </a:solidFill>
            <a:prstDash val="solid"/>
            <a:round/>
            <a:headEnd len="med" w="med" type="none"/>
            <a:tailEnd len="med" w="med" type="none"/>
          </a:ln>
        </p:spPr>
      </p:cxnSp>
      <p:sp>
        <p:nvSpPr>
          <p:cNvPr id="419" name="Google Shape;419;p41"/>
          <p:cNvSpPr/>
          <p:nvPr/>
        </p:nvSpPr>
        <p:spPr>
          <a:xfrm>
            <a:off x="6952656" y="2434938"/>
            <a:ext cx="13959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4" name="Google Shape;424;p41"/>
          <p:cNvSpPr txBox="1"/>
          <p:nvPr/>
        </p:nvSpPr>
        <p:spPr>
          <a:xfrm>
            <a:off x="7095892" y="2499847"/>
            <a:ext cx="13452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chemeClr val="dk2"/>
                </a:solidFill>
              </a:rPr>
              <a:t>modelo</a:t>
            </a:r>
            <a:endParaRPr b="1" sz="1100">
              <a:solidFill>
                <a:schemeClr val="dk2"/>
              </a:solidFill>
            </a:endParaRPr>
          </a:p>
          <a:p>
            <a:pPr indent="0" lvl="0" marL="0" rtl="0" algn="l">
              <a:spcBef>
                <a:spcPts val="0"/>
              </a:spcBef>
              <a:spcAft>
                <a:spcPts val="0"/>
              </a:spcAft>
              <a:buNone/>
            </a:pPr>
            <a:r>
              <a:rPr b="1" lang="es" sz="1800">
                <a:solidFill>
                  <a:schemeClr val="dk2"/>
                </a:solidFill>
              </a:rPr>
              <a:t>HMM i+1</a:t>
            </a:r>
            <a:endParaRPr b="1" sz="1800">
              <a:solidFill>
                <a:schemeClr val="dk2"/>
              </a:solidFill>
            </a:endParaRPr>
          </a:p>
        </p:txBody>
      </p:sp>
      <p:sp>
        <p:nvSpPr>
          <p:cNvPr id="425" name="Google Shape;425;p41"/>
          <p:cNvSpPr/>
          <p:nvPr/>
        </p:nvSpPr>
        <p:spPr>
          <a:xfrm>
            <a:off x="4395995" y="837988"/>
            <a:ext cx="19959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6" name="Google Shape;426;p41"/>
          <p:cNvSpPr txBox="1"/>
          <p:nvPr/>
        </p:nvSpPr>
        <p:spPr>
          <a:xfrm>
            <a:off x="4437692" y="886559"/>
            <a:ext cx="2142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rPr>
              <a:t>Lista de paths entrenamiento</a:t>
            </a:r>
            <a:endParaRPr b="1" sz="1800">
              <a:solidFill>
                <a:schemeClr val="dk2"/>
              </a:solidFill>
            </a:endParaRPr>
          </a:p>
        </p:txBody>
      </p:sp>
      <p:sp>
        <p:nvSpPr>
          <p:cNvPr id="427" name="Google Shape;427;p41"/>
          <p:cNvSpPr/>
          <p:nvPr/>
        </p:nvSpPr>
        <p:spPr>
          <a:xfrm>
            <a:off x="1793507" y="1133194"/>
            <a:ext cx="1759800" cy="1118100"/>
          </a:xfrm>
          <a:prstGeom prst="roundRect">
            <a:avLst>
              <a:gd fmla="val 16667" name="adj"/>
            </a:avLst>
          </a:prstGeom>
          <a:solidFill>
            <a:srgbClr val="6FC1E9">
              <a:alpha val="23640"/>
            </a:srgbClr>
          </a:solidFill>
          <a:ln cap="flat" cmpd="sng" w="9200">
            <a:solidFill>
              <a:schemeClr val="dk2"/>
            </a:solidFill>
            <a:prstDash val="solid"/>
            <a:round/>
            <a:headEnd len="sm" w="sm" type="none"/>
            <a:tailEnd len="sm" w="sm" type="none"/>
          </a:ln>
        </p:spPr>
        <p:txBody>
          <a:bodyPr anchorCtr="0" anchor="ctr" bIns="88325" lIns="88325" spcFirstLastPara="1" rIns="88325" wrap="square" tIns="88325">
            <a:noAutofit/>
          </a:bodyPr>
          <a:lstStyle/>
          <a:p>
            <a:pPr indent="0" lvl="0" marL="0" rtl="0" algn="ctr">
              <a:spcBef>
                <a:spcPts val="0"/>
              </a:spcBef>
              <a:spcAft>
                <a:spcPts val="0"/>
              </a:spcAft>
              <a:buNone/>
            </a:pPr>
            <a:r>
              <a:t/>
            </a:r>
            <a:endParaRPr sz="1352"/>
          </a:p>
        </p:txBody>
      </p:sp>
      <p:sp>
        <p:nvSpPr>
          <p:cNvPr id="428" name="Google Shape;428;p41"/>
          <p:cNvSpPr txBox="1"/>
          <p:nvPr/>
        </p:nvSpPr>
        <p:spPr>
          <a:xfrm>
            <a:off x="2026720" y="1197638"/>
            <a:ext cx="1354200" cy="981300"/>
          </a:xfrm>
          <a:prstGeom prst="rect">
            <a:avLst/>
          </a:prstGeom>
          <a:noFill/>
          <a:ln>
            <a:noFill/>
          </a:ln>
        </p:spPr>
        <p:txBody>
          <a:bodyPr anchorCtr="0" anchor="t" bIns="88325" lIns="88325" spcFirstLastPara="1" rIns="88325" wrap="square" tIns="88325">
            <a:spAutoFit/>
          </a:bodyPr>
          <a:lstStyle/>
          <a:p>
            <a:pPr indent="0" lvl="0" marL="0" rtl="0" algn="l">
              <a:spcBef>
                <a:spcPts val="0"/>
              </a:spcBef>
              <a:spcAft>
                <a:spcPts val="0"/>
              </a:spcAft>
              <a:buNone/>
            </a:pPr>
            <a:r>
              <a:rPr b="1" lang="es" sz="1739">
                <a:solidFill>
                  <a:schemeClr val="dk2"/>
                </a:solidFill>
              </a:rPr>
              <a:t>fonemas</a:t>
            </a:r>
            <a:endParaRPr b="1" sz="1739">
              <a:solidFill>
                <a:schemeClr val="dk2"/>
              </a:solidFill>
            </a:endParaRPr>
          </a:p>
          <a:p>
            <a:pPr indent="0" lvl="0" marL="0" rtl="0" algn="l">
              <a:spcBef>
                <a:spcPts val="0"/>
              </a:spcBef>
              <a:spcAft>
                <a:spcPts val="0"/>
              </a:spcAft>
              <a:buNone/>
            </a:pPr>
            <a:r>
              <a:rPr b="1" lang="es" sz="1739">
                <a:solidFill>
                  <a:schemeClr val="dk2"/>
                </a:solidFill>
              </a:rPr>
              <a:t>      a</a:t>
            </a:r>
            <a:endParaRPr b="1" sz="1739">
              <a:solidFill>
                <a:schemeClr val="dk2"/>
              </a:solidFill>
            </a:endParaRPr>
          </a:p>
          <a:p>
            <a:pPr indent="0" lvl="0" marL="0" rtl="0" algn="l">
              <a:spcBef>
                <a:spcPts val="0"/>
              </a:spcBef>
              <a:spcAft>
                <a:spcPts val="0"/>
              </a:spcAft>
              <a:buNone/>
            </a:pPr>
            <a:r>
              <a:rPr b="1" lang="es" sz="1739">
                <a:solidFill>
                  <a:schemeClr val="dk2"/>
                </a:solidFill>
              </a:rPr>
              <a:t>entrenar</a:t>
            </a:r>
            <a:endParaRPr b="1" sz="1739">
              <a:solidFill>
                <a:schemeClr val="dk2"/>
              </a:solidFill>
            </a:endParaRPr>
          </a:p>
        </p:txBody>
      </p:sp>
      <p:cxnSp>
        <p:nvCxnSpPr>
          <p:cNvPr id="429" name="Google Shape;429;p41"/>
          <p:cNvCxnSpPr>
            <a:stCxn id="427" idx="3"/>
            <a:endCxn id="414" idx="1"/>
          </p:cNvCxnSpPr>
          <p:nvPr/>
        </p:nvCxnSpPr>
        <p:spPr>
          <a:xfrm>
            <a:off x="3553307" y="1692244"/>
            <a:ext cx="1161600" cy="1115400"/>
          </a:xfrm>
          <a:prstGeom prst="bentConnector3">
            <a:avLst>
              <a:gd fmla="val 49994" name="adj1"/>
            </a:avLst>
          </a:prstGeom>
          <a:noFill/>
          <a:ln cap="flat" cmpd="sng" w="28575">
            <a:solidFill>
              <a:schemeClr val="dk2"/>
            </a:solidFill>
            <a:prstDash val="solid"/>
            <a:round/>
            <a:headEnd len="med" w="med" type="none"/>
            <a:tailEnd len="med" w="med" type="none"/>
          </a:ln>
        </p:spPr>
      </p:cxnSp>
      <p:cxnSp>
        <p:nvCxnSpPr>
          <p:cNvPr id="430" name="Google Shape;430;p41"/>
          <p:cNvCxnSpPr>
            <a:endCxn id="414" idx="0"/>
          </p:cNvCxnSpPr>
          <p:nvPr/>
        </p:nvCxnSpPr>
        <p:spPr>
          <a:xfrm flipH="1" rot="-5400000">
            <a:off x="5053322" y="2018845"/>
            <a:ext cx="830400" cy="1800"/>
          </a:xfrm>
          <a:prstGeom prst="bentConnector3">
            <a:avLst>
              <a:gd fmla="val 50000" name="adj1"/>
            </a:avLst>
          </a:prstGeom>
          <a:noFill/>
          <a:ln cap="flat" cmpd="sng" w="28575">
            <a:solidFill>
              <a:schemeClr val="dk2"/>
            </a:solidFill>
            <a:prstDash val="solid"/>
            <a:round/>
            <a:headEnd len="med" w="med" type="none"/>
            <a:tailEnd len="med" w="med" type="none"/>
          </a:ln>
        </p:spPr>
      </p:cxnSp>
      <p:pic>
        <p:nvPicPr>
          <p:cNvPr id="431" name="Google Shape;431;p41"/>
          <p:cNvPicPr preferRelativeResize="0"/>
          <p:nvPr/>
        </p:nvPicPr>
        <p:blipFill>
          <a:blip r:embed="rId3">
            <a:alphaModFix/>
          </a:blip>
          <a:stretch>
            <a:fillRect/>
          </a:stretch>
        </p:blipFill>
        <p:spPr>
          <a:xfrm>
            <a:off x="1591475" y="4494438"/>
            <a:ext cx="4581525" cy="447675"/>
          </a:xfrm>
          <a:prstGeom prst="rect">
            <a:avLst/>
          </a:prstGeom>
          <a:noFill/>
          <a:ln>
            <a:noFill/>
          </a:ln>
        </p:spPr>
      </p:pic>
      <p:sp>
        <p:nvSpPr>
          <p:cNvPr id="432" name="Google Shape;432;p41"/>
          <p:cNvSpPr txBox="1"/>
          <p:nvPr/>
        </p:nvSpPr>
        <p:spPr>
          <a:xfrm>
            <a:off x="746418" y="4474783"/>
            <a:ext cx="1161600" cy="44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rPr>
              <a:t>HEEd:</a:t>
            </a:r>
            <a:endParaRPr b="1" sz="1800">
              <a:solidFill>
                <a:schemeClr val="dk2"/>
              </a:solidFill>
            </a:endParaRPr>
          </a:p>
        </p:txBody>
      </p:sp>
      <p:sp>
        <p:nvSpPr>
          <p:cNvPr id="433" name="Google Shape;433;p41"/>
          <p:cNvSpPr txBox="1"/>
          <p:nvPr/>
        </p:nvSpPr>
        <p:spPr>
          <a:xfrm>
            <a:off x="6554583" y="4295320"/>
            <a:ext cx="2340000" cy="68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2 pasadas por cada </a:t>
            </a:r>
            <a:r>
              <a:rPr lang="es" sz="1800">
                <a:solidFill>
                  <a:schemeClr val="dk2"/>
                </a:solidFill>
              </a:rPr>
              <a:t>incremento</a:t>
            </a:r>
            <a:endParaRPr sz="1800">
              <a:solidFill>
                <a:schemeClr val="dk2"/>
              </a:solidFill>
            </a:endParaRPr>
          </a:p>
        </p:txBody>
      </p:sp>
      <p:sp>
        <p:nvSpPr>
          <p:cNvPr id="434" name="Google Shape;434;p41"/>
          <p:cNvSpPr/>
          <p:nvPr/>
        </p:nvSpPr>
        <p:spPr>
          <a:xfrm>
            <a:off x="460358" y="2510759"/>
            <a:ext cx="1354200" cy="631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5" name="Google Shape;435;p41"/>
          <p:cNvSpPr txBox="1"/>
          <p:nvPr/>
        </p:nvSpPr>
        <p:spPr>
          <a:xfrm>
            <a:off x="522150" y="2460171"/>
            <a:ext cx="12306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chemeClr val="dk2"/>
                </a:solidFill>
              </a:rPr>
              <a:t>prototipo (i=0)</a:t>
            </a:r>
            <a:endParaRPr b="1" sz="1100">
              <a:solidFill>
                <a:schemeClr val="dk2"/>
              </a:solidFill>
            </a:endParaRPr>
          </a:p>
          <a:p>
            <a:pPr indent="0" lvl="0" marL="0" rtl="0" algn="l">
              <a:spcBef>
                <a:spcPts val="0"/>
              </a:spcBef>
              <a:spcAft>
                <a:spcPts val="0"/>
              </a:spcAft>
              <a:buNone/>
            </a:pPr>
            <a:r>
              <a:rPr b="1" lang="es" sz="1800">
                <a:solidFill>
                  <a:schemeClr val="dk2"/>
                </a:solidFill>
              </a:rPr>
              <a:t>HCompV</a:t>
            </a:r>
            <a:endParaRPr b="1" sz="1800">
              <a:solidFill>
                <a:schemeClr val="dk2"/>
              </a:solidFill>
            </a:endParaRPr>
          </a:p>
        </p:txBody>
      </p:sp>
      <p:cxnSp>
        <p:nvCxnSpPr>
          <p:cNvPr id="436" name="Google Shape;436;p41"/>
          <p:cNvCxnSpPr>
            <a:stCxn id="434" idx="3"/>
            <a:endCxn id="416" idx="1"/>
          </p:cNvCxnSpPr>
          <p:nvPr/>
        </p:nvCxnSpPr>
        <p:spPr>
          <a:xfrm flipH="1" rot="10800000">
            <a:off x="1814558" y="2815559"/>
            <a:ext cx="363300" cy="10800"/>
          </a:xfrm>
          <a:prstGeom prst="straightConnector1">
            <a:avLst/>
          </a:prstGeom>
          <a:noFill/>
          <a:ln cap="flat" cmpd="sng" w="19050">
            <a:solidFill>
              <a:schemeClr val="dk2"/>
            </a:solidFill>
            <a:prstDash val="solid"/>
            <a:round/>
            <a:headEnd len="med" w="med" type="none"/>
            <a:tailEnd len="med" w="med" type="triangle"/>
          </a:ln>
        </p:spPr>
      </p:cxnSp>
      <p:sp>
        <p:nvSpPr>
          <p:cNvPr id="437" name="Google Shape;437;p41"/>
          <p:cNvSpPr txBox="1"/>
          <p:nvPr/>
        </p:nvSpPr>
        <p:spPr>
          <a:xfrm>
            <a:off x="59732" y="3649450"/>
            <a:ext cx="1762800" cy="6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2"/>
                </a:solidFill>
              </a:rPr>
              <a:t>transcripción de la señal de voz</a:t>
            </a:r>
            <a:endParaRPr>
              <a:solidFill>
                <a:schemeClr val="dk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2"/>
          <p:cNvSpPr txBox="1"/>
          <p:nvPr>
            <p:ph type="title"/>
          </p:nvPr>
        </p:nvSpPr>
        <p:spPr>
          <a:xfrm>
            <a:off x="251084" y="152832"/>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Reconocedor de gramática finita - Entrenamiento.</a:t>
            </a:r>
            <a:endParaRPr sz="2600">
              <a:solidFill>
                <a:schemeClr val="dk2"/>
              </a:solidFill>
            </a:endParaRPr>
          </a:p>
          <a:p>
            <a:pPr indent="0" lvl="0" marL="0" rtl="0" algn="l">
              <a:lnSpc>
                <a:spcPct val="115000"/>
              </a:lnSpc>
              <a:spcBef>
                <a:spcPts val="1200"/>
              </a:spcBef>
              <a:spcAft>
                <a:spcPts val="0"/>
              </a:spcAft>
              <a:buNone/>
            </a:pPr>
            <a:r>
              <a:rPr lang="es" sz="1900">
                <a:highlight>
                  <a:srgbClr val="FFFFFF"/>
                </a:highlight>
                <a:latin typeface="Courier New"/>
                <a:ea typeface="Courier New"/>
                <a:cs typeface="Courier New"/>
                <a:sym typeface="Courier New"/>
              </a:rPr>
              <a:t>      </a:t>
            </a:r>
            <a:endParaRPr/>
          </a:p>
        </p:txBody>
      </p:sp>
      <p:sp>
        <p:nvSpPr>
          <p:cNvPr id="443" name="Google Shape;443;p42"/>
          <p:cNvSpPr/>
          <p:nvPr/>
        </p:nvSpPr>
        <p:spPr>
          <a:xfrm>
            <a:off x="4590533" y="2145053"/>
            <a:ext cx="15093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4" name="Google Shape;444;p42"/>
          <p:cNvSpPr txBox="1"/>
          <p:nvPr/>
        </p:nvSpPr>
        <p:spPr>
          <a:xfrm>
            <a:off x="4796159" y="2261728"/>
            <a:ext cx="1071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rPr>
              <a:t>HEEd</a:t>
            </a:r>
            <a:endParaRPr b="1" sz="1800">
              <a:solidFill>
                <a:schemeClr val="dk2"/>
              </a:solidFill>
            </a:endParaRPr>
          </a:p>
        </p:txBody>
      </p:sp>
      <p:sp>
        <p:nvSpPr>
          <p:cNvPr id="445" name="Google Shape;445;p42"/>
          <p:cNvSpPr/>
          <p:nvPr/>
        </p:nvSpPr>
        <p:spPr>
          <a:xfrm>
            <a:off x="2053742" y="2209947"/>
            <a:ext cx="1354200" cy="631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6" name="Google Shape;446;p42"/>
          <p:cNvSpPr txBox="1"/>
          <p:nvPr/>
        </p:nvSpPr>
        <p:spPr>
          <a:xfrm>
            <a:off x="2253592" y="2198725"/>
            <a:ext cx="9486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chemeClr val="dk2"/>
                </a:solidFill>
              </a:rPr>
              <a:t>modelo</a:t>
            </a:r>
            <a:endParaRPr b="1" sz="1100">
              <a:solidFill>
                <a:schemeClr val="dk2"/>
              </a:solidFill>
            </a:endParaRPr>
          </a:p>
          <a:p>
            <a:pPr indent="0" lvl="0" marL="0" rtl="0" algn="l">
              <a:spcBef>
                <a:spcPts val="0"/>
              </a:spcBef>
              <a:spcAft>
                <a:spcPts val="0"/>
              </a:spcAft>
              <a:buNone/>
            </a:pPr>
            <a:r>
              <a:rPr b="1" lang="es" sz="1800">
                <a:solidFill>
                  <a:schemeClr val="dk2"/>
                </a:solidFill>
              </a:rPr>
              <a:t>HMM i</a:t>
            </a:r>
            <a:endParaRPr b="1" sz="1800">
              <a:solidFill>
                <a:schemeClr val="dk2"/>
              </a:solidFill>
            </a:endParaRPr>
          </a:p>
        </p:txBody>
      </p:sp>
      <p:cxnSp>
        <p:nvCxnSpPr>
          <p:cNvPr id="447" name="Google Shape;447;p42"/>
          <p:cNvCxnSpPr>
            <a:stCxn id="443" idx="3"/>
            <a:endCxn id="448" idx="1"/>
          </p:cNvCxnSpPr>
          <p:nvPr/>
        </p:nvCxnSpPr>
        <p:spPr>
          <a:xfrm>
            <a:off x="6099833" y="2517653"/>
            <a:ext cx="728700" cy="0"/>
          </a:xfrm>
          <a:prstGeom prst="straightConnector1">
            <a:avLst/>
          </a:prstGeom>
          <a:noFill/>
          <a:ln cap="flat" cmpd="sng" w="28575">
            <a:solidFill>
              <a:schemeClr val="dk2"/>
            </a:solidFill>
            <a:prstDash val="solid"/>
            <a:round/>
            <a:headEnd len="med" w="med" type="none"/>
            <a:tailEnd len="med" w="med" type="triangle"/>
          </a:ln>
        </p:spPr>
      </p:cxnSp>
      <p:cxnSp>
        <p:nvCxnSpPr>
          <p:cNvPr id="449" name="Google Shape;449;p42"/>
          <p:cNvCxnSpPr>
            <a:stCxn id="445" idx="3"/>
            <a:endCxn id="443" idx="1"/>
          </p:cNvCxnSpPr>
          <p:nvPr/>
        </p:nvCxnSpPr>
        <p:spPr>
          <a:xfrm flipH="1" rot="10800000">
            <a:off x="3407942" y="2517747"/>
            <a:ext cx="1182600" cy="7800"/>
          </a:xfrm>
          <a:prstGeom prst="bentConnector3">
            <a:avLst>
              <a:gd fmla="val 50000" name="adj1"/>
            </a:avLst>
          </a:prstGeom>
          <a:noFill/>
          <a:ln cap="flat" cmpd="sng" w="28575">
            <a:solidFill>
              <a:schemeClr val="dk2"/>
            </a:solidFill>
            <a:prstDash val="solid"/>
            <a:round/>
            <a:headEnd len="med" w="med" type="none"/>
            <a:tailEnd len="med" w="med" type="none"/>
          </a:ln>
        </p:spPr>
      </p:cxnSp>
      <p:sp>
        <p:nvSpPr>
          <p:cNvPr id="450" name="Google Shape;450;p42"/>
          <p:cNvSpPr/>
          <p:nvPr/>
        </p:nvSpPr>
        <p:spPr>
          <a:xfrm>
            <a:off x="1512536" y="3207934"/>
            <a:ext cx="1904100" cy="8808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51" name="Google Shape;451;p42"/>
          <p:cNvCxnSpPr>
            <a:stCxn id="450" idx="3"/>
            <a:endCxn id="443" idx="1"/>
          </p:cNvCxnSpPr>
          <p:nvPr/>
        </p:nvCxnSpPr>
        <p:spPr>
          <a:xfrm flipH="1" rot="10800000">
            <a:off x="3416636" y="2517634"/>
            <a:ext cx="1173900" cy="1130700"/>
          </a:xfrm>
          <a:prstGeom prst="bentConnector3">
            <a:avLst>
              <a:gd fmla="val 50000" name="adj1"/>
            </a:avLst>
          </a:prstGeom>
          <a:noFill/>
          <a:ln cap="flat" cmpd="sng" w="28575">
            <a:solidFill>
              <a:schemeClr val="dk2"/>
            </a:solidFill>
            <a:prstDash val="solid"/>
            <a:round/>
            <a:headEnd len="med" w="med" type="none"/>
            <a:tailEnd len="med" w="med" type="none"/>
          </a:ln>
        </p:spPr>
      </p:cxnSp>
      <p:sp>
        <p:nvSpPr>
          <p:cNvPr id="448" name="Google Shape;448;p42"/>
          <p:cNvSpPr/>
          <p:nvPr/>
        </p:nvSpPr>
        <p:spPr>
          <a:xfrm>
            <a:off x="6828417" y="2145047"/>
            <a:ext cx="13959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2" name="Google Shape;452;p42"/>
          <p:cNvSpPr txBox="1"/>
          <p:nvPr/>
        </p:nvSpPr>
        <p:spPr>
          <a:xfrm>
            <a:off x="6971653" y="2209955"/>
            <a:ext cx="13452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chemeClr val="dk2"/>
                </a:solidFill>
              </a:rPr>
              <a:t>modelo</a:t>
            </a:r>
            <a:endParaRPr b="1" sz="1100">
              <a:solidFill>
                <a:schemeClr val="dk2"/>
              </a:solidFill>
            </a:endParaRPr>
          </a:p>
          <a:p>
            <a:pPr indent="0" lvl="0" marL="0" rtl="0" algn="l">
              <a:spcBef>
                <a:spcPts val="0"/>
              </a:spcBef>
              <a:spcAft>
                <a:spcPts val="0"/>
              </a:spcAft>
              <a:buNone/>
            </a:pPr>
            <a:r>
              <a:rPr b="1" lang="es" sz="1800">
                <a:solidFill>
                  <a:schemeClr val="dk2"/>
                </a:solidFill>
              </a:rPr>
              <a:t>HMM i*</a:t>
            </a:r>
            <a:endParaRPr b="1" sz="1800">
              <a:solidFill>
                <a:schemeClr val="dk2"/>
              </a:solidFill>
            </a:endParaRPr>
          </a:p>
        </p:txBody>
      </p:sp>
      <p:sp>
        <p:nvSpPr>
          <p:cNvPr id="453" name="Google Shape;453;p42"/>
          <p:cNvSpPr/>
          <p:nvPr/>
        </p:nvSpPr>
        <p:spPr>
          <a:xfrm>
            <a:off x="570420" y="864025"/>
            <a:ext cx="2844300" cy="880800"/>
          </a:xfrm>
          <a:prstGeom prst="roundRect">
            <a:avLst>
              <a:gd fmla="val 16667" name="adj"/>
            </a:avLst>
          </a:prstGeom>
          <a:solidFill>
            <a:srgbClr val="6FC1E9">
              <a:alpha val="23640"/>
            </a:srgbClr>
          </a:solidFill>
          <a:ln cap="flat" cmpd="sng" w="9200">
            <a:solidFill>
              <a:schemeClr val="dk2"/>
            </a:solidFill>
            <a:prstDash val="solid"/>
            <a:round/>
            <a:headEnd len="sm" w="sm" type="none"/>
            <a:tailEnd len="sm" w="sm" type="none"/>
          </a:ln>
        </p:spPr>
        <p:txBody>
          <a:bodyPr anchorCtr="0" anchor="ctr" bIns="88325" lIns="88325" spcFirstLastPara="1" rIns="88325" wrap="square" tIns="88325">
            <a:noAutofit/>
          </a:bodyPr>
          <a:lstStyle/>
          <a:p>
            <a:pPr indent="0" lvl="0" marL="0" rtl="0" algn="ctr">
              <a:spcBef>
                <a:spcPts val="0"/>
              </a:spcBef>
              <a:spcAft>
                <a:spcPts val="0"/>
              </a:spcAft>
              <a:buNone/>
            </a:pPr>
            <a:r>
              <a:t/>
            </a:r>
            <a:endParaRPr sz="1352"/>
          </a:p>
        </p:txBody>
      </p:sp>
      <p:sp>
        <p:nvSpPr>
          <p:cNvPr id="454" name="Google Shape;454;p42"/>
          <p:cNvSpPr txBox="1"/>
          <p:nvPr/>
        </p:nvSpPr>
        <p:spPr>
          <a:xfrm>
            <a:off x="947363" y="914792"/>
            <a:ext cx="2188800" cy="713700"/>
          </a:xfrm>
          <a:prstGeom prst="rect">
            <a:avLst/>
          </a:prstGeom>
          <a:noFill/>
          <a:ln>
            <a:noFill/>
          </a:ln>
        </p:spPr>
        <p:txBody>
          <a:bodyPr anchorCtr="0" anchor="t" bIns="88325" lIns="88325" spcFirstLastPara="1" rIns="88325" wrap="square" tIns="88325">
            <a:spAutoFit/>
          </a:bodyPr>
          <a:lstStyle/>
          <a:p>
            <a:pPr indent="0" lvl="0" marL="0" rtl="0" algn="l">
              <a:spcBef>
                <a:spcPts val="0"/>
              </a:spcBef>
              <a:spcAft>
                <a:spcPts val="0"/>
              </a:spcAft>
              <a:buNone/>
            </a:pPr>
            <a:r>
              <a:rPr b="1" lang="es" sz="1739">
                <a:solidFill>
                  <a:schemeClr val="dk2"/>
                </a:solidFill>
              </a:rPr>
              <a:t>Fonos.</a:t>
            </a:r>
            <a:endParaRPr b="1" sz="1739">
              <a:solidFill>
                <a:schemeClr val="dk2"/>
              </a:solidFill>
            </a:endParaRPr>
          </a:p>
          <a:p>
            <a:pPr indent="0" lvl="0" marL="0" rtl="0" algn="l">
              <a:spcBef>
                <a:spcPts val="0"/>
              </a:spcBef>
              <a:spcAft>
                <a:spcPts val="0"/>
              </a:spcAft>
              <a:buNone/>
            </a:pPr>
            <a:r>
              <a:rPr b="1" lang="es" sz="1739">
                <a:solidFill>
                  <a:schemeClr val="dk2"/>
                </a:solidFill>
              </a:rPr>
              <a:t>monofones+sil+sp</a:t>
            </a:r>
            <a:endParaRPr b="1" sz="1739">
              <a:solidFill>
                <a:schemeClr val="dk2"/>
              </a:solidFill>
            </a:endParaRPr>
          </a:p>
        </p:txBody>
      </p:sp>
      <p:pic>
        <p:nvPicPr>
          <p:cNvPr id="455" name="Google Shape;455;p42"/>
          <p:cNvPicPr preferRelativeResize="0"/>
          <p:nvPr/>
        </p:nvPicPr>
        <p:blipFill>
          <a:blip r:embed="rId3">
            <a:alphaModFix/>
          </a:blip>
          <a:stretch>
            <a:fillRect/>
          </a:stretch>
        </p:blipFill>
        <p:spPr>
          <a:xfrm>
            <a:off x="1591475" y="4494438"/>
            <a:ext cx="4581525" cy="447675"/>
          </a:xfrm>
          <a:prstGeom prst="rect">
            <a:avLst/>
          </a:prstGeom>
          <a:noFill/>
          <a:ln>
            <a:noFill/>
          </a:ln>
        </p:spPr>
      </p:pic>
      <p:sp>
        <p:nvSpPr>
          <p:cNvPr id="456" name="Google Shape;456;p42"/>
          <p:cNvSpPr txBox="1"/>
          <p:nvPr/>
        </p:nvSpPr>
        <p:spPr>
          <a:xfrm>
            <a:off x="746418" y="4474783"/>
            <a:ext cx="1161600" cy="44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rPr>
              <a:t>HEEd:</a:t>
            </a:r>
            <a:endParaRPr b="1" sz="1800">
              <a:solidFill>
                <a:schemeClr val="dk2"/>
              </a:solidFill>
            </a:endParaRPr>
          </a:p>
        </p:txBody>
      </p:sp>
      <p:sp>
        <p:nvSpPr>
          <p:cNvPr id="457" name="Google Shape;457;p42"/>
          <p:cNvSpPr txBox="1"/>
          <p:nvPr/>
        </p:nvSpPr>
        <p:spPr>
          <a:xfrm>
            <a:off x="6523533" y="4295070"/>
            <a:ext cx="2340000" cy="68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2 pasadas por cada incremento</a:t>
            </a:r>
            <a:endParaRPr sz="1800">
              <a:solidFill>
                <a:schemeClr val="dk2"/>
              </a:solidFill>
            </a:endParaRPr>
          </a:p>
        </p:txBody>
      </p:sp>
      <p:sp>
        <p:nvSpPr>
          <p:cNvPr id="458" name="Google Shape;458;p42"/>
          <p:cNvSpPr txBox="1"/>
          <p:nvPr/>
        </p:nvSpPr>
        <p:spPr>
          <a:xfrm>
            <a:off x="1627793" y="3291484"/>
            <a:ext cx="1639500" cy="71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2"/>
                </a:solidFill>
              </a:rPr>
              <a:t>Script de </a:t>
            </a:r>
            <a:r>
              <a:rPr lang="es" sz="1200">
                <a:solidFill>
                  <a:schemeClr val="dk2"/>
                </a:solidFill>
              </a:rPr>
              <a:t>edición</a:t>
            </a:r>
            <a:r>
              <a:rPr lang="es" sz="1800">
                <a:solidFill>
                  <a:schemeClr val="dk2"/>
                </a:solidFill>
              </a:rPr>
              <a:t>.</a:t>
            </a:r>
            <a:endParaRPr sz="1800">
              <a:solidFill>
                <a:schemeClr val="dk2"/>
              </a:solidFill>
            </a:endParaRPr>
          </a:p>
          <a:p>
            <a:pPr indent="0" lvl="0" marL="0" rtl="0" algn="l">
              <a:spcBef>
                <a:spcPts val="0"/>
              </a:spcBef>
              <a:spcAft>
                <a:spcPts val="0"/>
              </a:spcAft>
              <a:buNone/>
            </a:pPr>
            <a:r>
              <a:rPr b="1" lang="es" sz="1800">
                <a:solidFill>
                  <a:schemeClr val="dk2"/>
                </a:solidFill>
              </a:rPr>
              <a:t>edit2g</a:t>
            </a:r>
            <a:endParaRPr b="1" sz="1800">
              <a:solidFill>
                <a:schemeClr val="dk2"/>
              </a:solidFill>
            </a:endParaRPr>
          </a:p>
        </p:txBody>
      </p:sp>
      <p:cxnSp>
        <p:nvCxnSpPr>
          <p:cNvPr id="459" name="Google Shape;459;p42"/>
          <p:cNvCxnSpPr>
            <a:stCxn id="453" idx="3"/>
            <a:endCxn id="443" idx="1"/>
          </p:cNvCxnSpPr>
          <p:nvPr/>
        </p:nvCxnSpPr>
        <p:spPr>
          <a:xfrm>
            <a:off x="3414720" y="1304425"/>
            <a:ext cx="1175700" cy="1213200"/>
          </a:xfrm>
          <a:prstGeom prst="bentConnector3">
            <a:avLst>
              <a:gd fmla="val 50005" name="adj1"/>
            </a:avLst>
          </a:prstGeom>
          <a:noFill/>
          <a:ln cap="flat" cmpd="sng" w="28575">
            <a:solidFill>
              <a:schemeClr val="dk2"/>
            </a:solidFill>
            <a:prstDash val="solid"/>
            <a:round/>
            <a:headEnd len="med" w="med" type="none"/>
            <a:tailEnd len="med" w="med" type="none"/>
          </a:ln>
        </p:spPr>
      </p:cxnSp>
      <p:sp>
        <p:nvSpPr>
          <p:cNvPr id="460" name="Google Shape;460;p42"/>
          <p:cNvSpPr/>
          <p:nvPr/>
        </p:nvSpPr>
        <p:spPr>
          <a:xfrm>
            <a:off x="6776656" y="3207928"/>
            <a:ext cx="15093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1" name="Google Shape;461;p42"/>
          <p:cNvSpPr txBox="1"/>
          <p:nvPr/>
        </p:nvSpPr>
        <p:spPr>
          <a:xfrm>
            <a:off x="6982282" y="3252131"/>
            <a:ext cx="1071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rPr>
              <a:t>HERestx2</a:t>
            </a:r>
            <a:endParaRPr b="1" sz="1800">
              <a:solidFill>
                <a:schemeClr val="dk2"/>
              </a:solidFill>
            </a:endParaRPr>
          </a:p>
        </p:txBody>
      </p:sp>
      <p:cxnSp>
        <p:nvCxnSpPr>
          <p:cNvPr id="462" name="Google Shape;462;p42"/>
          <p:cNvCxnSpPr>
            <a:stCxn id="448" idx="2"/>
            <a:endCxn id="460" idx="0"/>
          </p:cNvCxnSpPr>
          <p:nvPr/>
        </p:nvCxnSpPr>
        <p:spPr>
          <a:xfrm>
            <a:off x="7526367" y="2890247"/>
            <a:ext cx="4800" cy="3177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43"/>
          <p:cNvSpPr txBox="1"/>
          <p:nvPr>
            <p:ph type="title"/>
          </p:nvPr>
        </p:nvSpPr>
        <p:spPr>
          <a:xfrm>
            <a:off x="251084" y="152832"/>
            <a:ext cx="8520600" cy="572700"/>
          </a:xfrm>
          <a:prstGeom prst="rect">
            <a:avLst/>
          </a:prstGeom>
        </p:spPr>
        <p:txBody>
          <a:bodyPr anchorCtr="0" anchor="t" bIns="91425" lIns="91425" spcFirstLastPara="1" rIns="91425" wrap="square" tIns="91425">
            <a:normAutofit fontScale="90000"/>
          </a:bodyPr>
          <a:lstStyle/>
          <a:p>
            <a:pPr indent="-377190" lvl="0" marL="457200" rtl="0" algn="l">
              <a:lnSpc>
                <a:spcPct val="115000"/>
              </a:lnSpc>
              <a:spcBef>
                <a:spcPts val="0"/>
              </a:spcBef>
              <a:spcAft>
                <a:spcPts val="0"/>
              </a:spcAft>
              <a:buClr>
                <a:schemeClr val="dk2"/>
              </a:buClr>
              <a:buSzPct val="100000"/>
              <a:buChar char="●"/>
            </a:pPr>
            <a:r>
              <a:rPr lang="es" sz="2600">
                <a:solidFill>
                  <a:schemeClr val="dk2"/>
                </a:solidFill>
              </a:rPr>
              <a:t>Reconocedor de gramática finita - Testeo.</a:t>
            </a:r>
            <a:endParaRPr sz="2600">
              <a:solidFill>
                <a:schemeClr val="dk2"/>
              </a:solidFill>
            </a:endParaRPr>
          </a:p>
          <a:p>
            <a:pPr indent="0" lvl="0" marL="0" rtl="0" algn="l">
              <a:lnSpc>
                <a:spcPct val="115000"/>
              </a:lnSpc>
              <a:spcBef>
                <a:spcPts val="1200"/>
              </a:spcBef>
              <a:spcAft>
                <a:spcPts val="0"/>
              </a:spcAft>
              <a:buNone/>
            </a:pPr>
            <a:r>
              <a:rPr lang="es" sz="1900">
                <a:highlight>
                  <a:srgbClr val="FFFFFF"/>
                </a:highlight>
                <a:latin typeface="Courier New"/>
                <a:ea typeface="Courier New"/>
                <a:cs typeface="Courier New"/>
                <a:sym typeface="Courier New"/>
              </a:rPr>
              <a:t>      </a:t>
            </a:r>
            <a:endParaRPr/>
          </a:p>
        </p:txBody>
      </p:sp>
      <p:sp>
        <p:nvSpPr>
          <p:cNvPr id="468" name="Google Shape;468;p43"/>
          <p:cNvSpPr txBox="1"/>
          <p:nvPr/>
        </p:nvSpPr>
        <p:spPr>
          <a:xfrm>
            <a:off x="-10353" y="2601478"/>
            <a:ext cx="5208600" cy="243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300">
                <a:solidFill>
                  <a:schemeClr val="dk1"/>
                </a:solidFill>
                <a:latin typeface="Courier New"/>
                <a:ea typeface="Courier New"/>
                <a:cs typeface="Courier New"/>
                <a:sym typeface="Courier New"/>
              </a:rPr>
              <a:t>HVite</a:t>
            </a:r>
            <a:r>
              <a:rPr lang="es" sz="1300">
                <a:solidFill>
                  <a:schemeClr val="dk1"/>
                </a:solidFill>
                <a:highlight>
                  <a:srgbClr val="FFFFFF"/>
                </a:highlight>
                <a:latin typeface="Courier New"/>
                <a:ea typeface="Courier New"/>
                <a:cs typeface="Courier New"/>
                <a:sym typeface="Courier New"/>
              </a:rPr>
              <a:t> -A -T 1 \</a:t>
            </a:r>
            <a:endParaRPr sz="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 sz="1300">
                <a:solidFill>
                  <a:schemeClr val="dk1"/>
                </a:solidFill>
                <a:highlight>
                  <a:srgbClr val="FFFFFF"/>
                </a:highlight>
                <a:latin typeface="Courier New"/>
                <a:ea typeface="Courier New"/>
                <a:cs typeface="Courier New"/>
                <a:sym typeface="Courier New"/>
              </a:rPr>
              <a:t>-C ../config/config \</a:t>
            </a:r>
            <a:endParaRPr sz="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 sz="1300">
                <a:solidFill>
                  <a:schemeClr val="dk1"/>
                </a:solidFill>
                <a:highlight>
                  <a:srgbClr val="FFFFFF"/>
                </a:highlight>
                <a:latin typeface="Courier New"/>
                <a:ea typeface="Courier New"/>
                <a:cs typeface="Courier New"/>
                <a:sym typeface="Courier New"/>
              </a:rPr>
              <a:t>-H ../modelos/hmm128g.2/macros \</a:t>
            </a:r>
            <a:endParaRPr sz="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 sz="1300">
                <a:solidFill>
                  <a:schemeClr val="dk1"/>
                </a:solidFill>
                <a:highlight>
                  <a:srgbClr val="FFFFFF"/>
                </a:highlight>
                <a:latin typeface="Courier New"/>
                <a:ea typeface="Courier New"/>
                <a:cs typeface="Courier New"/>
                <a:sym typeface="Courier New"/>
              </a:rPr>
              <a:t>-H ../modelos/hmm128g.2/hmmdefs\</a:t>
            </a:r>
            <a:endParaRPr sz="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 sz="1300">
                <a:solidFill>
                  <a:schemeClr val="dk1"/>
                </a:solidFill>
                <a:highlight>
                  <a:srgbClr val="FFFFFF"/>
                </a:highlight>
                <a:latin typeface="Courier New"/>
                <a:ea typeface="Courier New"/>
                <a:cs typeface="Courier New"/>
                <a:sym typeface="Courier New"/>
              </a:rPr>
              <a:t>-l ’*’ \</a:t>
            </a:r>
            <a:endParaRPr sz="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 sz="1300">
                <a:solidFill>
                  <a:schemeClr val="dk1"/>
                </a:solidFill>
                <a:highlight>
                  <a:srgbClr val="FFFFFF"/>
                </a:highlight>
                <a:latin typeface="Courier New"/>
                <a:ea typeface="Courier New"/>
                <a:cs typeface="Courier New"/>
                <a:sym typeface="Courier New"/>
              </a:rPr>
              <a:t>-i recout128g_gf \</a:t>
            </a:r>
            <a:endParaRPr sz="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 sz="1300">
                <a:solidFill>
                  <a:schemeClr val="dk1"/>
                </a:solidFill>
                <a:highlight>
                  <a:srgbClr val="FFFFFF"/>
                </a:highlight>
                <a:latin typeface="Courier New"/>
                <a:ea typeface="Courier New"/>
                <a:cs typeface="Courier New"/>
                <a:sym typeface="Courier New"/>
              </a:rPr>
              <a:t>-w ../lm/wdnet_gf \</a:t>
            </a:r>
            <a:endParaRPr sz="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 sz="1300">
                <a:solidFill>
                  <a:schemeClr val="dk1"/>
                </a:solidFill>
                <a:highlight>
                  <a:srgbClr val="FFFFFF"/>
                </a:highlight>
                <a:latin typeface="Courier New"/>
                <a:ea typeface="Courier New"/>
                <a:cs typeface="Courier New"/>
                <a:sym typeface="Courier New"/>
              </a:rPr>
              <a:t>-S test_gf.scp \</a:t>
            </a:r>
            <a:endParaRPr sz="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 sz="1300">
                <a:solidFill>
                  <a:schemeClr val="dk1"/>
                </a:solidFill>
                <a:highlight>
                  <a:srgbClr val="FFFFFF"/>
                </a:highlight>
                <a:latin typeface="Courier New"/>
                <a:ea typeface="Courier New"/>
                <a:cs typeface="Courier New"/>
                <a:sym typeface="Courier New"/>
              </a:rPr>
              <a:t>-p 0.0 \</a:t>
            </a:r>
            <a:endParaRPr sz="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 sz="1300">
                <a:solidFill>
                  <a:schemeClr val="dk1"/>
                </a:solidFill>
                <a:highlight>
                  <a:srgbClr val="FFFFFF"/>
                </a:highlight>
                <a:latin typeface="Courier New"/>
                <a:ea typeface="Courier New"/>
                <a:cs typeface="Courier New"/>
                <a:sym typeface="Courier New"/>
              </a:rPr>
              <a:t>-s 5.0 ../etc/dict_gf ../etc/monophones+sil+sp &amp;</a:t>
            </a:r>
            <a:endParaRPr sz="13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i="1" sz="1000">
              <a:solidFill>
                <a:schemeClr val="dk2"/>
              </a:solidFill>
            </a:endParaRPr>
          </a:p>
        </p:txBody>
      </p:sp>
      <p:sp>
        <p:nvSpPr>
          <p:cNvPr id="469" name="Google Shape;469;p43"/>
          <p:cNvSpPr/>
          <p:nvPr/>
        </p:nvSpPr>
        <p:spPr>
          <a:xfrm>
            <a:off x="5622175" y="2012759"/>
            <a:ext cx="11988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0" name="Google Shape;470;p43"/>
          <p:cNvSpPr txBox="1"/>
          <p:nvPr/>
        </p:nvSpPr>
        <p:spPr>
          <a:xfrm>
            <a:off x="5745421" y="2129434"/>
            <a:ext cx="97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rPr>
              <a:t>HVite</a:t>
            </a:r>
            <a:endParaRPr b="1" sz="1800">
              <a:solidFill>
                <a:schemeClr val="dk2"/>
              </a:solidFill>
            </a:endParaRPr>
          </a:p>
        </p:txBody>
      </p:sp>
      <p:sp>
        <p:nvSpPr>
          <p:cNvPr id="471" name="Google Shape;471;p43"/>
          <p:cNvSpPr/>
          <p:nvPr/>
        </p:nvSpPr>
        <p:spPr>
          <a:xfrm>
            <a:off x="2019925" y="1485200"/>
            <a:ext cx="21978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2" name="Google Shape;472;p43"/>
          <p:cNvSpPr txBox="1"/>
          <p:nvPr/>
        </p:nvSpPr>
        <p:spPr>
          <a:xfrm>
            <a:off x="2178827" y="1544124"/>
            <a:ext cx="19521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200">
                <a:solidFill>
                  <a:schemeClr val="dk2"/>
                </a:solidFill>
              </a:rPr>
              <a:t>Listado de test data</a:t>
            </a:r>
            <a:endParaRPr b="1" sz="1200">
              <a:solidFill>
                <a:schemeClr val="dk2"/>
              </a:solidFill>
            </a:endParaRPr>
          </a:p>
          <a:p>
            <a:pPr indent="0" lvl="0" marL="0" rtl="0" algn="l">
              <a:spcBef>
                <a:spcPts val="0"/>
              </a:spcBef>
              <a:spcAft>
                <a:spcPts val="0"/>
              </a:spcAft>
              <a:buNone/>
            </a:pPr>
            <a:r>
              <a:rPr b="1" lang="es" sz="1800">
                <a:solidFill>
                  <a:schemeClr val="dk2"/>
                </a:solidFill>
              </a:rPr>
              <a:t>test_gf.scp</a:t>
            </a:r>
            <a:endParaRPr b="1" sz="1800">
              <a:solidFill>
                <a:schemeClr val="dk2"/>
              </a:solidFill>
            </a:endParaRPr>
          </a:p>
        </p:txBody>
      </p:sp>
      <p:cxnSp>
        <p:nvCxnSpPr>
          <p:cNvPr id="473" name="Google Shape;473;p43"/>
          <p:cNvCxnSpPr>
            <a:stCxn id="469" idx="3"/>
            <a:endCxn id="474" idx="1"/>
          </p:cNvCxnSpPr>
          <p:nvPr/>
        </p:nvCxnSpPr>
        <p:spPr>
          <a:xfrm>
            <a:off x="6820975" y="2385359"/>
            <a:ext cx="951900" cy="0"/>
          </a:xfrm>
          <a:prstGeom prst="straightConnector1">
            <a:avLst/>
          </a:prstGeom>
          <a:noFill/>
          <a:ln cap="flat" cmpd="sng" w="28575">
            <a:solidFill>
              <a:schemeClr val="dk2"/>
            </a:solidFill>
            <a:prstDash val="solid"/>
            <a:round/>
            <a:headEnd len="med" w="med" type="none"/>
            <a:tailEnd len="med" w="med" type="triangle"/>
          </a:ln>
        </p:spPr>
      </p:cxnSp>
      <p:cxnSp>
        <p:nvCxnSpPr>
          <p:cNvPr id="475" name="Google Shape;475;p43"/>
          <p:cNvCxnSpPr>
            <a:stCxn id="471" idx="3"/>
            <a:endCxn id="469" idx="1"/>
          </p:cNvCxnSpPr>
          <p:nvPr/>
        </p:nvCxnSpPr>
        <p:spPr>
          <a:xfrm>
            <a:off x="4217725" y="1857800"/>
            <a:ext cx="1404600" cy="527700"/>
          </a:xfrm>
          <a:prstGeom prst="bentConnector3">
            <a:avLst>
              <a:gd fmla="val 49995" name="adj1"/>
            </a:avLst>
          </a:prstGeom>
          <a:noFill/>
          <a:ln cap="flat" cmpd="sng" w="28575">
            <a:solidFill>
              <a:schemeClr val="dk2"/>
            </a:solidFill>
            <a:prstDash val="solid"/>
            <a:round/>
            <a:headEnd len="med" w="med" type="none"/>
            <a:tailEnd len="med" w="med" type="none"/>
          </a:ln>
        </p:spPr>
      </p:cxnSp>
      <p:sp>
        <p:nvSpPr>
          <p:cNvPr id="476" name="Google Shape;476;p43"/>
          <p:cNvSpPr/>
          <p:nvPr/>
        </p:nvSpPr>
        <p:spPr>
          <a:xfrm>
            <a:off x="2404492" y="2309496"/>
            <a:ext cx="18216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7" name="Google Shape;477;p43"/>
          <p:cNvSpPr txBox="1"/>
          <p:nvPr/>
        </p:nvSpPr>
        <p:spPr>
          <a:xfrm>
            <a:off x="2455201" y="2374298"/>
            <a:ext cx="1821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000">
                <a:solidFill>
                  <a:schemeClr val="dk2"/>
                </a:solidFill>
              </a:rPr>
              <a:t>Ultimo modelo entrenado</a:t>
            </a:r>
            <a:endParaRPr b="1" sz="1000">
              <a:solidFill>
                <a:schemeClr val="dk2"/>
              </a:solidFill>
            </a:endParaRPr>
          </a:p>
          <a:p>
            <a:pPr indent="0" lvl="0" marL="0" rtl="0" algn="l">
              <a:spcBef>
                <a:spcPts val="0"/>
              </a:spcBef>
              <a:spcAft>
                <a:spcPts val="0"/>
              </a:spcAft>
              <a:buNone/>
            </a:pPr>
            <a:r>
              <a:rPr b="1" lang="es" sz="1800">
                <a:solidFill>
                  <a:schemeClr val="dk2"/>
                </a:solidFill>
              </a:rPr>
              <a:t>HMMs</a:t>
            </a:r>
            <a:endParaRPr b="1" sz="1800">
              <a:solidFill>
                <a:schemeClr val="dk2"/>
              </a:solidFill>
            </a:endParaRPr>
          </a:p>
        </p:txBody>
      </p:sp>
      <p:cxnSp>
        <p:nvCxnSpPr>
          <p:cNvPr id="478" name="Google Shape;478;p43"/>
          <p:cNvCxnSpPr>
            <a:stCxn id="476" idx="3"/>
            <a:endCxn id="469" idx="1"/>
          </p:cNvCxnSpPr>
          <p:nvPr/>
        </p:nvCxnSpPr>
        <p:spPr>
          <a:xfrm flipH="1" rot="10800000">
            <a:off x="4226092" y="2385396"/>
            <a:ext cx="1396200" cy="296700"/>
          </a:xfrm>
          <a:prstGeom prst="bentConnector3">
            <a:avLst>
              <a:gd fmla="val 49996" name="adj1"/>
            </a:avLst>
          </a:prstGeom>
          <a:noFill/>
          <a:ln cap="flat" cmpd="sng" w="28575">
            <a:solidFill>
              <a:schemeClr val="dk2"/>
            </a:solidFill>
            <a:prstDash val="solid"/>
            <a:round/>
            <a:headEnd len="med" w="med" type="none"/>
            <a:tailEnd len="med" w="med" type="none"/>
          </a:ln>
        </p:spPr>
      </p:cxnSp>
      <p:sp>
        <p:nvSpPr>
          <p:cNvPr id="474" name="Google Shape;474;p43"/>
          <p:cNvSpPr/>
          <p:nvPr/>
        </p:nvSpPr>
        <p:spPr>
          <a:xfrm>
            <a:off x="7772747" y="2012759"/>
            <a:ext cx="11988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9" name="Google Shape;479;p43"/>
          <p:cNvSpPr txBox="1"/>
          <p:nvPr/>
        </p:nvSpPr>
        <p:spPr>
          <a:xfrm>
            <a:off x="7906346" y="2077667"/>
            <a:ext cx="9732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chemeClr val="dk2"/>
                </a:solidFill>
              </a:rPr>
              <a:t>mlfteset_gf</a:t>
            </a:r>
            <a:endParaRPr b="1" sz="1100">
              <a:solidFill>
                <a:schemeClr val="dk2"/>
              </a:solidFill>
            </a:endParaRPr>
          </a:p>
          <a:p>
            <a:pPr indent="0" lvl="0" marL="0" rtl="0" algn="l">
              <a:spcBef>
                <a:spcPts val="0"/>
              </a:spcBef>
              <a:spcAft>
                <a:spcPts val="0"/>
              </a:spcAft>
              <a:buNone/>
            </a:pPr>
            <a:r>
              <a:rPr b="1" lang="es" sz="1800">
                <a:solidFill>
                  <a:schemeClr val="dk2"/>
                </a:solidFill>
              </a:rPr>
              <a:t>MLF</a:t>
            </a:r>
            <a:endParaRPr b="1" sz="1800">
              <a:solidFill>
                <a:schemeClr val="dk2"/>
              </a:solidFill>
            </a:endParaRPr>
          </a:p>
        </p:txBody>
      </p:sp>
      <p:sp>
        <p:nvSpPr>
          <p:cNvPr id="480" name="Google Shape;480;p43"/>
          <p:cNvSpPr/>
          <p:nvPr/>
        </p:nvSpPr>
        <p:spPr>
          <a:xfrm>
            <a:off x="6429013" y="738178"/>
            <a:ext cx="18216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1" name="Google Shape;481;p43"/>
          <p:cNvSpPr txBox="1"/>
          <p:nvPr/>
        </p:nvSpPr>
        <p:spPr>
          <a:xfrm>
            <a:off x="6542435" y="735000"/>
            <a:ext cx="1656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rPr>
              <a:t>monofones+sil+sp</a:t>
            </a:r>
            <a:endParaRPr b="1" sz="1800">
              <a:solidFill>
                <a:schemeClr val="dk2"/>
              </a:solidFill>
            </a:endParaRPr>
          </a:p>
        </p:txBody>
      </p:sp>
      <p:sp>
        <p:nvSpPr>
          <p:cNvPr id="482" name="Google Shape;482;p43"/>
          <p:cNvSpPr/>
          <p:nvPr/>
        </p:nvSpPr>
        <p:spPr>
          <a:xfrm>
            <a:off x="5317446" y="3116815"/>
            <a:ext cx="18216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3" name="Google Shape;483;p43"/>
          <p:cNvSpPr txBox="1"/>
          <p:nvPr/>
        </p:nvSpPr>
        <p:spPr>
          <a:xfrm>
            <a:off x="5461305" y="3186092"/>
            <a:ext cx="16569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200">
                <a:solidFill>
                  <a:schemeClr val="dk2"/>
                </a:solidFill>
              </a:rPr>
              <a:t>red de palabras</a:t>
            </a:r>
            <a:endParaRPr b="1" sz="1200">
              <a:solidFill>
                <a:schemeClr val="dk2"/>
              </a:solidFill>
            </a:endParaRPr>
          </a:p>
          <a:p>
            <a:pPr indent="0" lvl="0" marL="0" rtl="0" algn="l">
              <a:spcBef>
                <a:spcPts val="0"/>
              </a:spcBef>
              <a:spcAft>
                <a:spcPts val="0"/>
              </a:spcAft>
              <a:buNone/>
            </a:pPr>
            <a:r>
              <a:rPr b="1" lang="es" sz="1800">
                <a:solidFill>
                  <a:schemeClr val="dk2"/>
                </a:solidFill>
              </a:rPr>
              <a:t>wdnet_gf</a:t>
            </a:r>
            <a:endParaRPr b="1" sz="1800">
              <a:solidFill>
                <a:schemeClr val="dk2"/>
              </a:solidFill>
            </a:endParaRPr>
          </a:p>
        </p:txBody>
      </p:sp>
      <p:sp>
        <p:nvSpPr>
          <p:cNvPr id="484" name="Google Shape;484;p43"/>
          <p:cNvSpPr/>
          <p:nvPr/>
        </p:nvSpPr>
        <p:spPr>
          <a:xfrm>
            <a:off x="4908814" y="725525"/>
            <a:ext cx="1198800" cy="745200"/>
          </a:xfrm>
          <a:prstGeom prst="roundRect">
            <a:avLst>
              <a:gd fmla="val 16667" name="adj"/>
            </a:avLst>
          </a:prstGeom>
          <a:solidFill>
            <a:srgbClr val="6FC1E9">
              <a:alpha val="236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5" name="Google Shape;485;p43"/>
          <p:cNvSpPr txBox="1"/>
          <p:nvPr/>
        </p:nvSpPr>
        <p:spPr>
          <a:xfrm>
            <a:off x="4983048" y="867275"/>
            <a:ext cx="1090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rPr>
              <a:t>dict_gf</a:t>
            </a:r>
            <a:endParaRPr b="1" sz="1800">
              <a:solidFill>
                <a:schemeClr val="dk2"/>
              </a:solidFill>
            </a:endParaRPr>
          </a:p>
        </p:txBody>
      </p:sp>
      <p:cxnSp>
        <p:nvCxnSpPr>
          <p:cNvPr id="486" name="Google Shape;486;p43"/>
          <p:cNvCxnSpPr>
            <a:stCxn id="482" idx="0"/>
            <a:endCxn id="469" idx="2"/>
          </p:cNvCxnSpPr>
          <p:nvPr/>
        </p:nvCxnSpPr>
        <p:spPr>
          <a:xfrm rot="10800000">
            <a:off x="6221646" y="2758015"/>
            <a:ext cx="6600" cy="358800"/>
          </a:xfrm>
          <a:prstGeom prst="straightConnector1">
            <a:avLst/>
          </a:prstGeom>
          <a:noFill/>
          <a:ln cap="flat" cmpd="sng" w="28575">
            <a:solidFill>
              <a:schemeClr val="dk2"/>
            </a:solidFill>
            <a:prstDash val="solid"/>
            <a:round/>
            <a:headEnd len="med" w="med" type="none"/>
            <a:tailEnd len="med" w="med" type="triangle"/>
          </a:ln>
        </p:spPr>
      </p:cxnSp>
      <p:cxnSp>
        <p:nvCxnSpPr>
          <p:cNvPr id="487" name="Google Shape;487;p43"/>
          <p:cNvCxnSpPr>
            <a:stCxn id="484" idx="2"/>
            <a:endCxn id="469" idx="0"/>
          </p:cNvCxnSpPr>
          <p:nvPr/>
        </p:nvCxnSpPr>
        <p:spPr>
          <a:xfrm flipH="1" rot="-5400000">
            <a:off x="5593864" y="1385075"/>
            <a:ext cx="542100" cy="713400"/>
          </a:xfrm>
          <a:prstGeom prst="bentConnector3">
            <a:avLst>
              <a:gd fmla="val 49994" name="adj1"/>
            </a:avLst>
          </a:prstGeom>
          <a:noFill/>
          <a:ln cap="flat" cmpd="sng" w="28575">
            <a:solidFill>
              <a:schemeClr val="dk2"/>
            </a:solidFill>
            <a:prstDash val="solid"/>
            <a:round/>
            <a:headEnd len="med" w="med" type="none"/>
            <a:tailEnd len="med" w="med" type="none"/>
          </a:ln>
        </p:spPr>
      </p:cxnSp>
      <p:cxnSp>
        <p:nvCxnSpPr>
          <p:cNvPr id="488" name="Google Shape;488;p43"/>
          <p:cNvCxnSpPr>
            <a:stCxn id="480" idx="2"/>
            <a:endCxn id="469" idx="0"/>
          </p:cNvCxnSpPr>
          <p:nvPr/>
        </p:nvCxnSpPr>
        <p:spPr>
          <a:xfrm rot="5400000">
            <a:off x="6516013" y="1189078"/>
            <a:ext cx="529500" cy="1118100"/>
          </a:xfrm>
          <a:prstGeom prst="bentConnector3">
            <a:avLst>
              <a:gd fmla="val 49989" name="adj1"/>
            </a:avLst>
          </a:prstGeom>
          <a:noFill/>
          <a:ln cap="flat" cmpd="sng" w="28575">
            <a:solidFill>
              <a:schemeClr val="dk2"/>
            </a:solidFill>
            <a:prstDash val="solid"/>
            <a:round/>
            <a:headEnd len="med" w="med" type="none"/>
            <a:tailEnd len="med" w="med" type="none"/>
          </a:ln>
        </p:spPr>
      </p:cxnSp>
      <p:sp>
        <p:nvSpPr>
          <p:cNvPr id="489" name="Google Shape;489;p43"/>
          <p:cNvSpPr txBox="1"/>
          <p:nvPr/>
        </p:nvSpPr>
        <p:spPr>
          <a:xfrm>
            <a:off x="7536549" y="2911450"/>
            <a:ext cx="1762800" cy="6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2"/>
                </a:solidFill>
              </a:rPr>
              <a:t>transcripción de la señal de voz</a:t>
            </a:r>
            <a:endParaRPr>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